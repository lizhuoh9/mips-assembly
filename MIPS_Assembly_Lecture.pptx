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27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4" r:id="rId25"/>
    <p:sldId id="285" r:id="rId26"/>
  </p:sldIdLst>
  <p:sldSz cx="12187238" cy="6858000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orient="horz" pos="1275" userDrawn="1">
          <p15:clr>
            <a:srgbClr val="A4A3A4"/>
          </p15:clr>
        </p15:guide>
        <p15:guide id="3" orient="horz" pos="3929" userDrawn="1">
          <p15:clr>
            <a:srgbClr val="A4A3A4"/>
          </p15:clr>
        </p15:guide>
        <p15:guide id="4" orient="horz" pos="2160" userDrawn="1">
          <p15:clr>
            <a:srgbClr val="A4A3A4"/>
          </p15:clr>
        </p15:guide>
        <p15:guide id="5" orient="horz" pos="3045" userDrawn="1">
          <p15:clr>
            <a:srgbClr val="A4A3A4"/>
          </p15:clr>
        </p15:guide>
        <p15:guide id="6" orient="horz" pos="4269" userDrawn="1">
          <p15:clr>
            <a:srgbClr val="A4A3A4"/>
          </p15:clr>
        </p15:guide>
        <p15:guide id="7" orient="horz" pos="3997" userDrawn="1">
          <p15:clr>
            <a:srgbClr val="A4A3A4"/>
          </p15:clr>
        </p15:guide>
        <p15:guide id="8" pos="91" userDrawn="1">
          <p15:clr>
            <a:srgbClr val="A4A3A4"/>
          </p15:clr>
        </p15:guide>
        <p15:guide id="9" pos="7585" userDrawn="1">
          <p15:clr>
            <a:srgbClr val="A4A3A4"/>
          </p15:clr>
        </p15:guide>
        <p15:guide id="10" pos="3839" userDrawn="1">
          <p15:clr>
            <a:srgbClr val="A4A3A4"/>
          </p15:clr>
        </p15:guide>
        <p15:guide id="11" pos="204" userDrawn="1">
          <p15:clr>
            <a:srgbClr val="A4A3A4"/>
          </p15:clr>
        </p15:guide>
        <p15:guide id="12" pos="7472" userDrawn="1">
          <p15:clr>
            <a:srgbClr val="A4A3A4"/>
          </p15:clr>
        </p15:guide>
        <p15:guide id="13" orient="horz" pos="48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 Young" initials="M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0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72" autoAdjust="0"/>
    <p:restoredTop sz="86210" autoAdjust="0"/>
  </p:normalViewPr>
  <p:slideViewPr>
    <p:cSldViewPr snapToGrid="0" showGuides="1">
      <p:cViewPr varScale="1">
        <p:scale>
          <a:sx n="120" d="100"/>
          <a:sy n="120" d="100"/>
        </p:scale>
        <p:origin x="1476" y="120"/>
      </p:cViewPr>
      <p:guideLst>
        <p:guide orient="horz" pos="391"/>
        <p:guide orient="horz" pos="1275"/>
        <p:guide orient="horz" pos="3929"/>
        <p:guide orient="horz" pos="2160"/>
        <p:guide orient="horz" pos="3045"/>
        <p:guide orient="horz" pos="4269"/>
        <p:guide orient="horz" pos="3997"/>
        <p:guide pos="91"/>
        <p:guide pos="7585"/>
        <p:guide pos="3839"/>
        <p:guide pos="204"/>
        <p:guide pos="7472"/>
        <p:guide orient="horz" pos="4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295" y="1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41288" y="768350"/>
            <a:ext cx="68167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9721107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295" y="9721107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300" b="0" i="0" u="none" strike="noStrike" cap="none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</a:t>
            </a:fld>
            <a:endParaRPr lang="en-GB" sz="13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884767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alt Vollbild">
  <p:cSld name="Inhalt Vollbild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dt" idx="10"/>
          </p:nvPr>
        </p:nvSpPr>
        <p:spPr>
          <a:xfrm>
            <a:off x="10916511" y="6308726"/>
            <a:ext cx="612000" cy="468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11624905" y="6308726"/>
            <a:ext cx="355461" cy="468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sp>
        <p:nvSpPr>
          <p:cNvPr id="74" name="Google Shape;74;p16"/>
          <p:cNvSpPr>
            <a:spLocks noGrp="1"/>
          </p:cNvSpPr>
          <p:nvPr>
            <p:ph type="pic" idx="2"/>
          </p:nvPr>
        </p:nvSpPr>
        <p:spPr>
          <a:xfrm>
            <a:off x="323850" y="764703"/>
            <a:ext cx="11537950" cy="546386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Google Shape;75;p16"/>
          <p:cNvSpPr txBox="1">
            <a:spLocks noGrp="1"/>
          </p:cNvSpPr>
          <p:nvPr>
            <p:ph type="ftr" idx="11"/>
          </p:nvPr>
        </p:nvSpPr>
        <p:spPr>
          <a:xfrm>
            <a:off x="9477995" y="6447628"/>
            <a:ext cx="1270114" cy="190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alt ohne Balken">
  <p:cSld name="Inhalt ohne Balke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10916511" y="6308726"/>
            <a:ext cx="612000" cy="468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ldNum" idx="12"/>
          </p:nvPr>
        </p:nvSpPr>
        <p:spPr>
          <a:xfrm>
            <a:off x="11624905" y="6308726"/>
            <a:ext cx="355461" cy="468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9477995" y="6447628"/>
            <a:ext cx="1270114" cy="190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9"/>
          <p:cNvPicPr preferRelativeResize="0"/>
          <p:nvPr/>
        </p:nvPicPr>
        <p:blipFill rotWithShape="1">
          <a:blip r:embed="rId4"/>
          <a:srcRect l="-4020"/>
          <a:stretch>
            <a:fillRect/>
          </a:stretch>
        </p:blipFill>
        <p:spPr>
          <a:xfrm>
            <a:off x="-215011" y="117642"/>
            <a:ext cx="12159857" cy="717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9"/>
          <p:cNvGrpSpPr/>
          <p:nvPr/>
        </p:nvGrpSpPr>
        <p:grpSpPr>
          <a:xfrm>
            <a:off x="-377675" y="-385094"/>
            <a:ext cx="12418864" cy="7159751"/>
            <a:chOff x="-377675" y="-385094"/>
            <a:chExt cx="12418864" cy="7159751"/>
          </a:xfrm>
        </p:grpSpPr>
        <p:cxnSp>
          <p:nvCxnSpPr>
            <p:cNvPr id="12" name="Google Shape;12;p9"/>
            <p:cNvCxnSpPr/>
            <p:nvPr/>
          </p:nvCxnSpPr>
          <p:spPr>
            <a:xfrm rot="5400000">
              <a:off x="190800" y="-254209"/>
              <a:ext cx="262800" cy="1031"/>
            </a:xfrm>
            <a:prstGeom prst="straightConnector1">
              <a:avLst/>
            </a:prstGeom>
            <a:noFill/>
            <a:ln w="9525" cap="flat" cmpd="sng">
              <a:solidFill>
                <a:srgbClr val="FF006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" name="Google Shape;13;p9"/>
            <p:cNvCxnSpPr/>
            <p:nvPr/>
          </p:nvCxnSpPr>
          <p:spPr>
            <a:xfrm rot="5400000">
              <a:off x="11728139" y="-254209"/>
              <a:ext cx="262800" cy="1031"/>
            </a:xfrm>
            <a:prstGeom prst="straightConnector1">
              <a:avLst/>
            </a:prstGeom>
            <a:noFill/>
            <a:ln w="9525" cap="flat" cmpd="sng">
              <a:solidFill>
                <a:srgbClr val="FF006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9"/>
            <p:cNvCxnSpPr/>
            <p:nvPr/>
          </p:nvCxnSpPr>
          <p:spPr>
            <a:xfrm>
              <a:off x="-377675" y="3427045"/>
              <a:ext cx="262289" cy="0"/>
            </a:xfrm>
            <a:prstGeom prst="straightConnector1">
              <a:avLst/>
            </a:prstGeom>
            <a:noFill/>
            <a:ln w="9525" cap="flat" cmpd="sng">
              <a:solidFill>
                <a:srgbClr val="FF006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" name="Google Shape;15;p9"/>
            <p:cNvCxnSpPr/>
            <p:nvPr/>
          </p:nvCxnSpPr>
          <p:spPr>
            <a:xfrm>
              <a:off x="-377675" y="762794"/>
              <a:ext cx="262800" cy="1281"/>
            </a:xfrm>
            <a:prstGeom prst="straightConnector1">
              <a:avLst/>
            </a:prstGeom>
            <a:noFill/>
            <a:ln w="9525" cap="flat" cmpd="sng">
              <a:solidFill>
                <a:srgbClr val="FF006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" name="Google Shape;16;p9"/>
            <p:cNvCxnSpPr/>
            <p:nvPr/>
          </p:nvCxnSpPr>
          <p:spPr>
            <a:xfrm>
              <a:off x="-377675" y="6304951"/>
              <a:ext cx="262800" cy="0"/>
            </a:xfrm>
            <a:prstGeom prst="straightConnector1">
              <a:avLst/>
            </a:prstGeom>
            <a:noFill/>
            <a:ln w="9525" cap="flat" cmpd="sng">
              <a:solidFill>
                <a:srgbClr val="FF006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9"/>
            <p:cNvCxnSpPr/>
            <p:nvPr/>
          </p:nvCxnSpPr>
          <p:spPr>
            <a:xfrm>
              <a:off x="-377675" y="6237242"/>
              <a:ext cx="262800" cy="0"/>
            </a:xfrm>
            <a:prstGeom prst="straightConnector1">
              <a:avLst/>
            </a:prstGeom>
            <a:noFill/>
            <a:ln w="9525" cap="flat" cmpd="sng">
              <a:solidFill>
                <a:srgbClr val="FF006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" name="Google Shape;18;p9"/>
            <p:cNvCxnSpPr/>
            <p:nvPr/>
          </p:nvCxnSpPr>
          <p:spPr>
            <a:xfrm>
              <a:off x="-377675" y="6774657"/>
              <a:ext cx="262800" cy="0"/>
            </a:xfrm>
            <a:prstGeom prst="straightConnector1">
              <a:avLst/>
            </a:prstGeom>
            <a:noFill/>
            <a:ln w="9525" cap="flat" cmpd="sng">
              <a:solidFill>
                <a:srgbClr val="FF006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" name="Google Shape;19;p9"/>
            <p:cNvCxnSpPr/>
            <p:nvPr/>
          </p:nvCxnSpPr>
          <p:spPr>
            <a:xfrm rot="5400000">
              <a:off x="5963529" y="-254209"/>
              <a:ext cx="262800" cy="1031"/>
            </a:xfrm>
            <a:prstGeom prst="straightConnector1">
              <a:avLst/>
            </a:prstGeom>
            <a:noFill/>
            <a:ln w="9525" cap="flat" cmpd="sng">
              <a:solidFill>
                <a:srgbClr val="FF006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" name="Google Shape;20;p9"/>
            <p:cNvCxnSpPr/>
            <p:nvPr/>
          </p:nvCxnSpPr>
          <p:spPr>
            <a:xfrm>
              <a:off x="-377675" y="619432"/>
              <a:ext cx="262800" cy="1281"/>
            </a:xfrm>
            <a:prstGeom prst="straightConnector1">
              <a:avLst/>
            </a:prstGeom>
            <a:noFill/>
            <a:ln w="9525" cap="flat" cmpd="sng">
              <a:solidFill>
                <a:srgbClr val="FF006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21;p9"/>
            <p:cNvCxnSpPr/>
            <p:nvPr/>
          </p:nvCxnSpPr>
          <p:spPr>
            <a:xfrm>
              <a:off x="-377675" y="2020566"/>
              <a:ext cx="262289" cy="0"/>
            </a:xfrm>
            <a:prstGeom prst="straightConnector1">
              <a:avLst/>
            </a:prstGeom>
            <a:noFill/>
            <a:ln w="9525" cap="flat" cmpd="sng">
              <a:solidFill>
                <a:srgbClr val="FF006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22;p9"/>
            <p:cNvCxnSpPr/>
            <p:nvPr/>
          </p:nvCxnSpPr>
          <p:spPr>
            <a:xfrm>
              <a:off x="-377675" y="4831557"/>
              <a:ext cx="262800" cy="0"/>
            </a:xfrm>
            <a:prstGeom prst="straightConnector1">
              <a:avLst/>
            </a:prstGeom>
            <a:noFill/>
            <a:ln w="9525" cap="flat" cmpd="sng">
              <a:solidFill>
                <a:srgbClr val="FF006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" name="Google Shape;23;p9"/>
            <p:cNvCxnSpPr/>
            <p:nvPr/>
          </p:nvCxnSpPr>
          <p:spPr>
            <a:xfrm rot="5400000">
              <a:off x="10959" y="-254209"/>
              <a:ext cx="262800" cy="1031"/>
            </a:xfrm>
            <a:prstGeom prst="straightConnector1">
              <a:avLst/>
            </a:prstGeom>
            <a:noFill/>
            <a:ln w="9525" cap="flat" cmpd="sng">
              <a:solidFill>
                <a:srgbClr val="FF006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" name="Google Shape;24;p9"/>
            <p:cNvCxnSpPr/>
            <p:nvPr/>
          </p:nvCxnSpPr>
          <p:spPr>
            <a:xfrm rot="5400000">
              <a:off x="11909273" y="-254209"/>
              <a:ext cx="262800" cy="1031"/>
            </a:xfrm>
            <a:prstGeom prst="straightConnector1">
              <a:avLst/>
            </a:prstGeom>
            <a:noFill/>
            <a:ln w="9525" cap="flat" cmpd="sng">
              <a:solidFill>
                <a:srgbClr val="FF006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5" name="Google Shape;25;p9"/>
          <p:cNvSpPr txBox="1">
            <a:spLocks noGrp="1"/>
          </p:cNvSpPr>
          <p:nvPr>
            <p:ph type="dt" idx="10"/>
          </p:nvPr>
        </p:nvSpPr>
        <p:spPr>
          <a:xfrm>
            <a:off x="10916511" y="6308726"/>
            <a:ext cx="612000" cy="468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11624905" y="6308726"/>
            <a:ext cx="355461" cy="468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sp>
        <p:nvSpPr>
          <p:cNvPr id="27" name="Google Shape;27;p9"/>
          <p:cNvSpPr txBox="1">
            <a:spLocks noGrp="1"/>
          </p:cNvSpPr>
          <p:nvPr>
            <p:ph type="body" idx="1"/>
          </p:nvPr>
        </p:nvSpPr>
        <p:spPr>
          <a:xfrm>
            <a:off x="323850" y="2024064"/>
            <a:ext cx="11528919" cy="421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0400" tIns="0" rIns="144000" bIns="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28" name="Google Shape;28;p9"/>
          <p:cNvSpPr txBox="1"/>
          <p:nvPr/>
        </p:nvSpPr>
        <p:spPr>
          <a:xfrm>
            <a:off x="11536270" y="6300190"/>
            <a:ext cx="141222" cy="468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45700" rIns="360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|</a:t>
            </a:r>
          </a:p>
        </p:txBody>
      </p:sp>
      <p:sp>
        <p:nvSpPr>
          <p:cNvPr id="29" name="Google Shape;29;p9"/>
          <p:cNvSpPr txBox="1"/>
          <p:nvPr/>
        </p:nvSpPr>
        <p:spPr>
          <a:xfrm>
            <a:off x="10779077" y="6300189"/>
            <a:ext cx="141222" cy="468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45700" rIns="360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|</a:t>
            </a:r>
          </a:p>
        </p:txBody>
      </p:sp>
      <p:sp>
        <p:nvSpPr>
          <p:cNvPr id="30" name="Google Shape;30;p9"/>
          <p:cNvSpPr txBox="1">
            <a:spLocks noGrp="1"/>
          </p:cNvSpPr>
          <p:nvPr>
            <p:ph type="title"/>
          </p:nvPr>
        </p:nvSpPr>
        <p:spPr>
          <a:xfrm>
            <a:off x="301544" y="257609"/>
            <a:ext cx="11528920" cy="1056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54000" rIns="14400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 panose="020B0604020202020204"/>
              <a:buNone/>
              <a:defRPr sz="28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ftr" idx="11"/>
          </p:nvPr>
        </p:nvSpPr>
        <p:spPr>
          <a:xfrm>
            <a:off x="9477995" y="6447628"/>
            <a:ext cx="1270114" cy="190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57200" y="2011680"/>
            <a:ext cx="11277295" cy="3291840"/>
          </a:xfrm>
          <a:prstGeom prst="roundRect">
            <a:avLst>
              <a:gd name="adj" fmla="val 3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2331720"/>
            <a:ext cx="1033272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FFFFFF"/>
                </a:solidFill>
                <a:latin typeface="Arial"/>
              </a:rPr>
              <a:t>MIPS Assembly Programming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383280"/>
            <a:ext cx="1033272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E8EEF4"/>
                </a:solidFill>
                <a:latin typeface="Arial"/>
              </a:rPr>
              <a:t>From your first 'Hello World' to recursive functions on the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160520"/>
            <a:ext cx="1033272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Hanyang University ERICA Campus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526280"/>
            <a:ext cx="103327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8EEF4"/>
                </a:solidFill>
                <a:latin typeface="Arial"/>
              </a:rPr>
              <a:t>Department of Robotics  -  Computer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846320"/>
            <a:ext cx="103327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8EEF4"/>
                </a:solidFill>
                <a:latin typeface="Arial"/>
              </a:rPr>
              <a:t>Instructor: Prof. Bumjin Jang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577839"/>
            <a:ext cx="10332720" cy="58442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300" b="0" i="1" dirty="0">
                <a:solidFill>
                  <a:srgbClr val="1E3A5F"/>
                </a:solidFill>
                <a:latin typeface="Arial"/>
              </a:rPr>
              <a:t>Zhuoheng</a:t>
            </a:r>
            <a:r>
              <a:rPr lang="en-US" sz="1300" b="0" i="1" dirty="0">
                <a:solidFill>
                  <a:srgbClr val="1E3A5F"/>
                </a:solidFill>
                <a:latin typeface="Arial"/>
              </a:rPr>
              <a:t> L</a:t>
            </a:r>
            <a:r>
              <a:rPr lang="en-US" altLang="zh-CN" sz="1300" b="0" i="1" dirty="0">
                <a:solidFill>
                  <a:srgbClr val="1E3A5F"/>
                </a:solidFill>
                <a:latin typeface="Arial"/>
              </a:rPr>
              <a:t>i</a:t>
            </a:r>
          </a:p>
          <a:p>
            <a:pPr algn="l">
              <a:lnSpc>
                <a:spcPct val="120000"/>
              </a:lnSpc>
            </a:pPr>
            <a:r>
              <a:rPr lang="en-US" altLang="zh-CN" sz="1300" i="1" dirty="0">
                <a:solidFill>
                  <a:srgbClr val="1E3A5F"/>
                </a:solidFill>
                <a:latin typeface="Arial"/>
              </a:rPr>
              <a:t>lzh9768@hanyang.ac.kr</a:t>
            </a:r>
            <a:endParaRPr sz="1300" b="0" i="1" dirty="0">
              <a:solidFill>
                <a:srgbClr val="1E3A5F"/>
              </a:solidFill>
              <a:latin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endParaRPr sz="1200" b="0" i="1" dirty="0">
              <a:solidFill>
                <a:srgbClr val="6B7280"/>
              </a:solidFill>
              <a:latin typeface="Arial"/>
            </a:endParaRPr>
          </a:p>
        </p:txBody>
      </p:sp>
      <p:sp>
        <p:nvSpPr>
          <p:cNvPr id="11" name="topic_label"/>
          <p:cNvSpPr txBox="1"/>
          <p:nvPr/>
        </p:nvSpPr>
        <p:spPr>
          <a:xfrm>
            <a:off x="274320" y="292608"/>
            <a:ext cx="64008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MIPS Assembly  -  Computer Architecture, Hanyang ERICA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ctr"/>
          <a:lstStyle/>
          <a:p>
            <a:pPr algn="l"/>
            <a:r>
              <a:rPr sz="3200" b="1">
                <a:solidFill>
                  <a:srgbClr val="1E3A5F"/>
                </a:solidFill>
                <a:latin typeface="Arial"/>
              </a:rPr>
              <a:t>MARS: Our Simulator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/>
            <a:r>
              <a:rPr sz="1400" i="1">
                <a:solidFill>
                  <a:srgbClr val="6B7280"/>
                </a:solidFill>
                <a:latin typeface="Arial"/>
              </a:rPr>
              <a:t>MIPS Assembler and Runtime Simulator (Java, free)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11277295" cy="4937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109728" bIns="54864" rtlCol="0" anchor="ctr"/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ED7D31"/>
                </a:solidFill>
                <a:latin typeface="Arial"/>
              </a:rPr>
              <a:t>▸ </a:t>
            </a:r>
            <a:r>
              <a:rPr sz="1700" b="1">
                <a:solidFill>
                  <a:srgbClr val="1E3A5F"/>
                </a:solidFill>
                <a:latin typeface="Arial"/>
              </a:rPr>
              <a:t>Edit</a:t>
            </a:r>
            <a:r>
              <a:rPr sz="1700">
                <a:solidFill>
                  <a:srgbClr val="212121"/>
                </a:solidFill>
                <a:latin typeface="Arial"/>
              </a:rPr>
              <a:t>  -  syntax-highlighted .asm editor, multi-file support</a:t>
            </a:r>
          </a:p>
          <a:p>
            <a:pPr algn="l">
              <a:lnSpc>
                <a:spcPct val="135000"/>
              </a:lnSpc>
            </a:pPr>
            <a:r>
              <a:rPr sz="1700" b="1">
                <a:solidFill>
                  <a:srgbClr val="ED7D31"/>
                </a:solidFill>
                <a:latin typeface="Arial"/>
              </a:rPr>
              <a:t>▸ </a:t>
            </a:r>
            <a:r>
              <a:rPr sz="1700" b="1">
                <a:solidFill>
                  <a:srgbClr val="1E3A5F"/>
                </a:solidFill>
                <a:latin typeface="Arial"/>
              </a:rPr>
              <a:t>Assemble (F3)</a:t>
            </a:r>
            <a:r>
              <a:rPr sz="1700">
                <a:solidFill>
                  <a:srgbClr val="212121"/>
                </a:solidFill>
                <a:latin typeface="Arial"/>
              </a:rPr>
              <a:t>  -  translates your code to machine code, reports syntax errors</a:t>
            </a:r>
          </a:p>
          <a:p>
            <a:pPr algn="l">
              <a:lnSpc>
                <a:spcPct val="135000"/>
              </a:lnSpc>
            </a:pPr>
            <a:r>
              <a:rPr sz="1700" b="1">
                <a:solidFill>
                  <a:srgbClr val="ED7D31"/>
                </a:solidFill>
                <a:latin typeface="Arial"/>
              </a:rPr>
              <a:t>▸ </a:t>
            </a:r>
            <a:r>
              <a:rPr sz="1700" b="1">
                <a:solidFill>
                  <a:srgbClr val="1E3A5F"/>
                </a:solidFill>
                <a:latin typeface="Arial"/>
              </a:rPr>
              <a:t>Run (F5)</a:t>
            </a:r>
            <a:r>
              <a:rPr sz="1700">
                <a:solidFill>
                  <a:srgbClr val="212121"/>
                </a:solidFill>
                <a:latin typeface="Arial"/>
              </a:rPr>
              <a:t>  -  execute the program; output shows in the bottom Run I/O pane</a:t>
            </a:r>
          </a:p>
          <a:p>
            <a:pPr algn="l">
              <a:lnSpc>
                <a:spcPct val="135000"/>
              </a:lnSpc>
            </a:pPr>
            <a:r>
              <a:rPr sz="1700" b="1">
                <a:solidFill>
                  <a:srgbClr val="ED7D31"/>
                </a:solidFill>
                <a:latin typeface="Arial"/>
              </a:rPr>
              <a:t>▸ </a:t>
            </a:r>
            <a:r>
              <a:rPr sz="1700" b="1">
                <a:solidFill>
                  <a:srgbClr val="1E3A5F"/>
                </a:solidFill>
                <a:latin typeface="Arial"/>
              </a:rPr>
              <a:t>Step (F7)</a:t>
            </a:r>
            <a:r>
              <a:rPr sz="1700">
                <a:solidFill>
                  <a:srgbClr val="212121"/>
                </a:solidFill>
                <a:latin typeface="Arial"/>
              </a:rPr>
              <a:t>  -  single-step through each instruction</a:t>
            </a:r>
          </a:p>
          <a:p>
            <a:pPr algn="l">
              <a:lnSpc>
                <a:spcPct val="135000"/>
              </a:lnSpc>
            </a:pPr>
            <a:r>
              <a:rPr sz="1700" b="1">
                <a:solidFill>
                  <a:srgbClr val="ED7D31"/>
                </a:solidFill>
                <a:latin typeface="Arial"/>
              </a:rPr>
              <a:t>▸ </a:t>
            </a:r>
            <a:r>
              <a:rPr sz="1700" b="1">
                <a:solidFill>
                  <a:srgbClr val="1E3A5F"/>
                </a:solidFill>
                <a:latin typeface="Arial"/>
              </a:rPr>
              <a:t>Inspect</a:t>
            </a:r>
            <a:r>
              <a:rPr sz="1700">
                <a:solidFill>
                  <a:srgbClr val="212121"/>
                </a:solidFill>
                <a:latin typeface="Arial"/>
              </a:rPr>
              <a:t>  -  live view of all 32 registers and main memory while you step</a:t>
            </a:r>
          </a:p>
          <a:p>
            <a:pPr algn="l">
              <a:lnSpc>
                <a:spcPct val="135000"/>
              </a:lnSpc>
            </a:pPr>
            <a:r>
              <a:rPr sz="1700" b="1">
                <a:solidFill>
                  <a:srgbClr val="ED7D31"/>
                </a:solidFill>
                <a:latin typeface="Arial"/>
              </a:rPr>
              <a:t>▸ </a:t>
            </a:r>
            <a:r>
              <a:rPr sz="1700" b="1">
                <a:solidFill>
                  <a:srgbClr val="1E3A5F"/>
                </a:solidFill>
                <a:latin typeface="Arial"/>
              </a:rPr>
              <a:t>Help</a:t>
            </a:r>
            <a:r>
              <a:rPr sz="1700">
                <a:solidFill>
                  <a:srgbClr val="212121"/>
                </a:solidFill>
                <a:latin typeface="Arial"/>
              </a:rPr>
              <a:t>  -  built-in syscall reference (Help -&gt; Syscalls)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852160"/>
            <a:ext cx="11247120" cy="50292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Download:  https://dpetersanderson.github.io/  (requires Java)</a:t>
            </a:r>
          </a:p>
        </p:txBody>
      </p:sp>
      <p:sp>
        <p:nvSpPr>
          <p:cNvPr id="7" name="topic_label"/>
          <p:cNvSpPr txBox="1"/>
          <p:nvPr/>
        </p:nvSpPr>
        <p:spPr>
          <a:xfrm>
            <a:off x="274320" y="292608"/>
            <a:ext cx="64008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MARS Simulator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ctr"/>
          <a:lstStyle/>
          <a:p>
            <a:pPr algn="l"/>
            <a:r>
              <a:rPr sz="3200" b="1" dirty="0">
                <a:solidFill>
                  <a:srgbClr val="1E3A5F"/>
                </a:solidFill>
                <a:latin typeface="Arial"/>
              </a:rPr>
              <a:t>MARS Anatomy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/>
            <a:r>
              <a:rPr sz="1400" i="1">
                <a:solidFill>
                  <a:srgbClr val="6B7280"/>
                </a:solidFill>
                <a:latin typeface="Arial"/>
              </a:rPr>
              <a:t>Four panels you will use constantly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74519"/>
            <a:ext cx="5532120" cy="2103120"/>
          </a:xfrm>
          <a:prstGeom prst="roundRect">
            <a:avLst>
              <a:gd name="adj" fmla="val 3000"/>
            </a:avLst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553212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1. Edit / Execute Tabs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14599"/>
            <a:ext cx="516636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121"/>
                </a:solidFill>
                <a:latin typeface="Arial"/>
              </a:rPr>
              <a:t>Edit shows your source.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121"/>
                </a:solidFill>
                <a:latin typeface="Arial"/>
              </a:rPr>
              <a:t>Execute shows assembled machine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74519"/>
            <a:ext cx="5532120" cy="2103120"/>
          </a:xfrm>
          <a:prstGeom prst="roundRect">
            <a:avLst>
              <a:gd name="adj" fmla="val 3000"/>
            </a:avLst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1874519"/>
            <a:ext cx="553212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2. Code Editor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2514599"/>
            <a:ext cx="516636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121"/>
                </a:solidFill>
                <a:latin typeface="Arial"/>
              </a:rPr>
              <a:t>Type and edit your .asm file here.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121"/>
                </a:solidFill>
                <a:latin typeface="Arial"/>
              </a:rPr>
              <a:t>Line numbers, syntax colours.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160519"/>
            <a:ext cx="5532120" cy="2103120"/>
          </a:xfrm>
          <a:prstGeom prst="roundRect">
            <a:avLst>
              <a:gd name="adj" fmla="val 3000"/>
            </a:avLst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4160519"/>
            <a:ext cx="553212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3. Registers Panel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00599"/>
            <a:ext cx="516636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121"/>
                </a:solidFill>
                <a:latin typeface="Arial"/>
              </a:rPr>
              <a:t>All 32 GP registers + HI / LO + PC.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121"/>
                </a:solidFill>
                <a:latin typeface="Arial"/>
              </a:rPr>
              <a:t>Values update as you step.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160519"/>
            <a:ext cx="5532120" cy="2103120"/>
          </a:xfrm>
          <a:prstGeom prst="roundRect">
            <a:avLst>
              <a:gd name="adj" fmla="val 3000"/>
            </a:avLst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4160519"/>
            <a:ext cx="553212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4. Run I/O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4800599"/>
            <a:ext cx="516636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121"/>
                </a:solidFill>
                <a:latin typeface="Arial"/>
              </a:rPr>
              <a:t>syscall 4 / 1 prints appear here.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121"/>
                </a:solidFill>
                <a:latin typeface="Arial"/>
              </a:rPr>
              <a:t>syscall 5 / 8 reads input here.</a:t>
            </a:r>
          </a:p>
        </p:txBody>
      </p:sp>
      <p:sp>
        <p:nvSpPr>
          <p:cNvPr id="17" name="topic_label"/>
          <p:cNvSpPr txBox="1"/>
          <p:nvPr/>
        </p:nvSpPr>
        <p:spPr>
          <a:xfrm>
            <a:off x="274320" y="292608"/>
            <a:ext cx="64008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MARS Anatomy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ctr"/>
          <a:lstStyle/>
          <a:p>
            <a:pPr algn="l"/>
            <a:r>
              <a:rPr sz="3200" b="1">
                <a:solidFill>
                  <a:srgbClr val="1E3A5F"/>
                </a:solidFill>
                <a:latin typeface="Arial"/>
              </a:rPr>
              <a:t>General-Purpose Registers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/>
            <a:r>
              <a:rPr sz="1400" i="1">
                <a:solidFill>
                  <a:srgbClr val="6B7280"/>
                </a:solidFill>
                <a:latin typeface="Arial"/>
              </a:rPr>
              <a:t>32 registers, named by role - learn the convention, not the number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Name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1828800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Number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828800"/>
            <a:ext cx="7159752" cy="50292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Purpose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11274552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21031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3A5F"/>
                </a:solidFill>
                <a:latin typeface="Arial"/>
              </a:rPr>
              <a:t>$zero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2468880"/>
            <a:ext cx="18288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B7280"/>
                </a:solidFill>
                <a:latin typeface="Arial"/>
              </a:rPr>
              <a:t>$0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468880"/>
            <a:ext cx="69494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121"/>
                </a:solidFill>
                <a:latin typeface="Arial"/>
              </a:rPr>
              <a:t>always 0 (cannot be written)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34640"/>
            <a:ext cx="11274552" cy="457200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2926080"/>
            <a:ext cx="21031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3A5F"/>
                </a:solidFill>
                <a:latin typeface="Arial"/>
              </a:rPr>
              <a:t>$at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2926080"/>
            <a:ext cx="18288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B7280"/>
                </a:solidFill>
                <a:latin typeface="Arial"/>
              </a:rPr>
              <a:t>$1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2926080"/>
            <a:ext cx="69494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121"/>
                </a:solidFill>
                <a:latin typeface="Arial"/>
              </a:rPr>
              <a:t>assembler-temporary  -  do not touch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3383280"/>
            <a:ext cx="21031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3A5F"/>
                </a:solidFill>
                <a:latin typeface="Arial"/>
              </a:rPr>
              <a:t>$v0 - $v1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3383280"/>
            <a:ext cx="18288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B7280"/>
                </a:solidFill>
                <a:latin typeface="Arial"/>
              </a:rPr>
              <a:t>$2-$3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3383280"/>
            <a:ext cx="69494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121"/>
                </a:solidFill>
                <a:latin typeface="Arial"/>
              </a:rPr>
              <a:t>function return values, also syscall code in $v0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49040"/>
            <a:ext cx="11274552" cy="457200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3840480"/>
            <a:ext cx="21031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3A5F"/>
                </a:solidFill>
                <a:latin typeface="Arial"/>
              </a:rPr>
              <a:t>$a0 - $a3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7480" y="3840480"/>
            <a:ext cx="18288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B7280"/>
                </a:solidFill>
                <a:latin typeface="Arial"/>
              </a:rPr>
              <a:t>$4-$7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3840480"/>
            <a:ext cx="69494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121"/>
                </a:solidFill>
                <a:latin typeface="Arial"/>
              </a:rPr>
              <a:t>function arguments (and syscall arguments)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06240"/>
            <a:ext cx="11274552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4297680"/>
            <a:ext cx="21031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3A5F"/>
                </a:solidFill>
                <a:latin typeface="Arial"/>
              </a:rPr>
              <a:t>$t0 - $t9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97480" y="4297680"/>
            <a:ext cx="18288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B7280"/>
                </a:solidFill>
                <a:latin typeface="Arial"/>
              </a:rPr>
              <a:t>$8-$15, $24-$25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4297680"/>
            <a:ext cx="69494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121"/>
                </a:solidFill>
                <a:latin typeface="Arial"/>
              </a:rPr>
              <a:t>temporaries  -  caller-saved (free for any use)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663440"/>
            <a:ext cx="11274552" cy="457200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" y="4754880"/>
            <a:ext cx="21031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3A5F"/>
                </a:solidFill>
                <a:latin typeface="Arial"/>
              </a:rPr>
              <a:t>$s0 - $s7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97480" y="4754880"/>
            <a:ext cx="18288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B7280"/>
                </a:solidFill>
                <a:latin typeface="Arial"/>
              </a:rPr>
              <a:t>$16-$23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4754880"/>
            <a:ext cx="69494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121"/>
                </a:solidFill>
                <a:latin typeface="Arial"/>
              </a:rPr>
              <a:t>saved registers  -  callee MUST preserve them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120640"/>
            <a:ext cx="11274552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48640" y="5212080"/>
            <a:ext cx="21031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3A5F"/>
                </a:solidFill>
                <a:latin typeface="Arial"/>
              </a:rPr>
              <a:t>$gp / $sp / $fp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97480" y="5212080"/>
            <a:ext cx="18288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B7280"/>
                </a:solidFill>
                <a:latin typeface="Arial"/>
              </a:rPr>
              <a:t>$28-$30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5212080"/>
            <a:ext cx="69494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121"/>
                </a:solidFill>
                <a:latin typeface="Arial"/>
              </a:rPr>
              <a:t>global / stack / frame pointer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48640" y="5669280"/>
            <a:ext cx="21031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3A5F"/>
                </a:solidFill>
                <a:latin typeface="Arial"/>
              </a:rPr>
              <a:t>$ra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97480" y="5669280"/>
            <a:ext cx="18288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B7280"/>
                </a:solidFill>
                <a:latin typeface="Arial"/>
              </a:rPr>
              <a:t>$31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5669280"/>
            <a:ext cx="69494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121"/>
                </a:solidFill>
                <a:latin typeface="Arial"/>
              </a:rPr>
              <a:t>return address (set automatically by jal)</a:t>
            </a:r>
          </a:p>
        </p:txBody>
      </p:sp>
      <p:sp>
        <p:nvSpPr>
          <p:cNvPr id="40" name="topic_label"/>
          <p:cNvSpPr txBox="1"/>
          <p:nvPr/>
        </p:nvSpPr>
        <p:spPr>
          <a:xfrm>
            <a:off x="274320" y="292608"/>
            <a:ext cx="64008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General-Purpose Registers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ctr"/>
          <a:lstStyle/>
          <a:p>
            <a:pPr algn="l"/>
            <a:r>
              <a:rPr sz="3200" b="1">
                <a:solidFill>
                  <a:srgbClr val="1E3A5F"/>
                </a:solidFill>
                <a:latin typeface="Arial"/>
              </a:rPr>
              <a:t>Floating-Point Registers (Coprocessor 1)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/>
            <a:r>
              <a:rPr sz="1400" i="1">
                <a:solidFill>
                  <a:srgbClr val="6B7280"/>
                </a:solidFill>
                <a:latin typeface="Arial"/>
              </a:rPr>
              <a:t>Separate file: $f0 - $f31, used by all FP instructions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40816" y="1051560"/>
            <a:ext cx="11277295" cy="4937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109728" bIns="54864" rtlCol="0" anchor="ctr"/>
          <a:lstStyle/>
          <a:p>
            <a:pPr algn="l">
              <a:lnSpc>
                <a:spcPct val="140000"/>
              </a:lnSpc>
            </a:pPr>
            <a:r>
              <a:rPr sz="1700" b="1" dirty="0">
                <a:solidFill>
                  <a:srgbClr val="ED7D31"/>
                </a:solidFill>
                <a:latin typeface="Arial"/>
              </a:rPr>
              <a:t>▸ </a:t>
            </a:r>
            <a:r>
              <a:rPr sz="1700" b="1" dirty="0">
                <a:solidFill>
                  <a:srgbClr val="1E3A5F"/>
                </a:solidFill>
                <a:latin typeface="Arial"/>
              </a:rPr>
              <a:t>32 single-precision regs</a:t>
            </a:r>
            <a:r>
              <a:rPr sz="1700" dirty="0">
                <a:solidFill>
                  <a:srgbClr val="212121"/>
                </a:solidFill>
                <a:latin typeface="Arial"/>
              </a:rPr>
              <a:t>  -  $f0 through $f31  -  hold 32-bit floats</a:t>
            </a:r>
          </a:p>
          <a:p>
            <a:pPr algn="l">
              <a:lnSpc>
                <a:spcPct val="140000"/>
              </a:lnSpc>
            </a:pPr>
            <a:r>
              <a:rPr sz="1700" b="1" dirty="0">
                <a:solidFill>
                  <a:srgbClr val="ED7D31"/>
                </a:solidFill>
                <a:latin typeface="Arial"/>
              </a:rPr>
              <a:t>▸ </a:t>
            </a:r>
            <a:r>
              <a:rPr sz="1700" b="1" dirty="0">
                <a:solidFill>
                  <a:srgbClr val="1E3A5F"/>
                </a:solidFill>
                <a:latin typeface="Arial"/>
              </a:rPr>
              <a:t>Doubles use a PAIR</a:t>
            </a:r>
            <a:r>
              <a:rPr sz="1700" dirty="0">
                <a:solidFill>
                  <a:srgbClr val="212121"/>
                </a:solidFill>
                <a:latin typeface="Arial"/>
              </a:rPr>
              <a:t>  -  $f0/$f1, $f2/$f3, ...  -  always even/odd</a:t>
            </a:r>
          </a:p>
          <a:p>
            <a:pPr algn="l">
              <a:lnSpc>
                <a:spcPct val="140000"/>
              </a:lnSpc>
            </a:pPr>
            <a:r>
              <a:rPr sz="1700" b="1" dirty="0">
                <a:solidFill>
                  <a:srgbClr val="ED7D31"/>
                </a:solidFill>
                <a:latin typeface="Arial"/>
              </a:rPr>
              <a:t>▸ </a:t>
            </a:r>
            <a:r>
              <a:rPr sz="1700" b="1" dirty="0">
                <a:solidFill>
                  <a:srgbClr val="1E3A5F"/>
                </a:solidFill>
                <a:latin typeface="Arial"/>
              </a:rPr>
              <a:t>Argument convention</a:t>
            </a:r>
            <a:r>
              <a:rPr sz="1700" dirty="0">
                <a:solidFill>
                  <a:srgbClr val="212121"/>
                </a:solidFill>
                <a:latin typeface="Arial"/>
              </a:rPr>
              <a:t>  -  $f12 receives the float / double for print </a:t>
            </a:r>
            <a:r>
              <a:rPr sz="1700" dirty="0" err="1">
                <a:solidFill>
                  <a:srgbClr val="212121"/>
                </a:solidFill>
                <a:latin typeface="Arial"/>
              </a:rPr>
              <a:t>syscalls</a:t>
            </a:r>
            <a:endParaRPr sz="1700" dirty="0">
              <a:solidFill>
                <a:srgbClr val="212121"/>
              </a:solidFill>
              <a:latin typeface="Arial"/>
            </a:endParaRPr>
          </a:p>
          <a:p>
            <a:pPr algn="l">
              <a:lnSpc>
                <a:spcPct val="140000"/>
              </a:lnSpc>
            </a:pPr>
            <a:r>
              <a:rPr sz="1700" b="1" dirty="0">
                <a:solidFill>
                  <a:srgbClr val="ED7D31"/>
                </a:solidFill>
                <a:latin typeface="Arial"/>
              </a:rPr>
              <a:t>▸ </a:t>
            </a:r>
            <a:r>
              <a:rPr sz="1700" b="1" dirty="0">
                <a:solidFill>
                  <a:srgbClr val="1E3A5F"/>
                </a:solidFill>
                <a:latin typeface="Arial"/>
              </a:rPr>
              <a:t>Return convention</a:t>
            </a:r>
            <a:r>
              <a:rPr sz="1700" dirty="0">
                <a:solidFill>
                  <a:srgbClr val="212121"/>
                </a:solidFill>
                <a:latin typeface="Arial"/>
              </a:rPr>
              <a:t>  -  $f0 holds the result for read-float / read-double </a:t>
            </a:r>
            <a:r>
              <a:rPr sz="1700" dirty="0" err="1">
                <a:solidFill>
                  <a:srgbClr val="212121"/>
                </a:solidFill>
                <a:latin typeface="Arial"/>
              </a:rPr>
              <a:t>syscalls</a:t>
            </a:r>
            <a:endParaRPr sz="1700" dirty="0">
              <a:solidFill>
                <a:srgbClr val="212121"/>
              </a:solidFill>
              <a:latin typeface="Arial"/>
            </a:endParaRPr>
          </a:p>
          <a:p>
            <a:pPr algn="l">
              <a:lnSpc>
                <a:spcPct val="140000"/>
              </a:lnSpc>
            </a:pPr>
            <a:r>
              <a:rPr sz="1700" b="1" dirty="0">
                <a:solidFill>
                  <a:srgbClr val="ED7D31"/>
                </a:solidFill>
                <a:latin typeface="Arial"/>
              </a:rPr>
              <a:t>▸ </a:t>
            </a:r>
            <a:r>
              <a:rPr sz="1700" b="1" dirty="0">
                <a:solidFill>
                  <a:srgbClr val="1E3A5F"/>
                </a:solidFill>
                <a:latin typeface="Arial"/>
              </a:rPr>
              <a:t>Move between FP regs</a:t>
            </a:r>
            <a:r>
              <a:rPr sz="1700" dirty="0">
                <a:solidFill>
                  <a:srgbClr val="212121"/>
                </a:solidFill>
                <a:latin typeface="Arial"/>
              </a:rPr>
              <a:t>  -  use </a:t>
            </a:r>
            <a:r>
              <a:rPr sz="1700" dirty="0" err="1">
                <a:solidFill>
                  <a:srgbClr val="212121"/>
                </a:solidFill>
                <a:latin typeface="Arial"/>
              </a:rPr>
              <a:t>mov.s</a:t>
            </a:r>
            <a:r>
              <a:rPr sz="1700" dirty="0">
                <a:solidFill>
                  <a:srgbClr val="212121"/>
                </a:solidFill>
                <a:latin typeface="Arial"/>
              </a:rPr>
              <a:t> (single) or </a:t>
            </a:r>
            <a:r>
              <a:rPr sz="1700" dirty="0" err="1">
                <a:solidFill>
                  <a:srgbClr val="212121"/>
                </a:solidFill>
                <a:latin typeface="Arial"/>
              </a:rPr>
              <a:t>mov.d</a:t>
            </a:r>
            <a:r>
              <a:rPr sz="1700" dirty="0">
                <a:solidFill>
                  <a:srgbClr val="212121"/>
                </a:solidFill>
                <a:latin typeface="Arial"/>
              </a:rPr>
              <a:t> (double), NOT 'move'</a:t>
            </a:r>
          </a:p>
          <a:p>
            <a:pPr algn="l">
              <a:lnSpc>
                <a:spcPct val="140000"/>
              </a:lnSpc>
            </a:pPr>
            <a:r>
              <a:rPr sz="1700" b="1" dirty="0">
                <a:solidFill>
                  <a:srgbClr val="ED7D31"/>
                </a:solidFill>
                <a:latin typeface="Arial"/>
              </a:rPr>
              <a:t>▸ </a:t>
            </a:r>
            <a:r>
              <a:rPr sz="1700" b="1" dirty="0">
                <a:solidFill>
                  <a:srgbClr val="1E3A5F"/>
                </a:solidFill>
                <a:latin typeface="Arial"/>
              </a:rPr>
              <a:t>Load / store</a:t>
            </a:r>
            <a:r>
              <a:rPr sz="1700" dirty="0">
                <a:solidFill>
                  <a:srgbClr val="212121"/>
                </a:solidFill>
                <a:latin typeface="Arial"/>
              </a:rPr>
              <a:t>  -  lwc1 / swc1 for floats; </a:t>
            </a:r>
            <a:r>
              <a:rPr sz="1700" dirty="0" err="1">
                <a:solidFill>
                  <a:srgbClr val="212121"/>
                </a:solidFill>
                <a:latin typeface="Arial"/>
              </a:rPr>
              <a:t>l.d</a:t>
            </a:r>
            <a:r>
              <a:rPr sz="1700" dirty="0">
                <a:solidFill>
                  <a:srgbClr val="212121"/>
                </a:solidFill>
                <a:latin typeface="Arial"/>
              </a:rPr>
              <a:t> / </a:t>
            </a:r>
            <a:r>
              <a:rPr sz="1700" dirty="0" err="1">
                <a:solidFill>
                  <a:srgbClr val="212121"/>
                </a:solidFill>
                <a:latin typeface="Arial"/>
              </a:rPr>
              <a:t>s.d</a:t>
            </a:r>
            <a:r>
              <a:rPr sz="1700" dirty="0">
                <a:solidFill>
                  <a:srgbClr val="212121"/>
                </a:solidFill>
                <a:latin typeface="Arial"/>
              </a:rPr>
              <a:t> for doubles</a:t>
            </a:r>
          </a:p>
        </p:txBody>
      </p:sp>
      <p:sp>
        <p:nvSpPr>
          <p:cNvPr id="6" name="topic_label"/>
          <p:cNvSpPr txBox="1"/>
          <p:nvPr/>
        </p:nvSpPr>
        <p:spPr>
          <a:xfrm>
            <a:off x="274320" y="292608"/>
            <a:ext cx="64008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Floating-Point Registers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ctr"/>
          <a:lstStyle/>
          <a:p>
            <a:pPr algn="l"/>
            <a:r>
              <a:rPr sz="3200" b="1">
                <a:solidFill>
                  <a:srgbClr val="1E3A5F"/>
                </a:solidFill>
                <a:latin typeface="Arial"/>
              </a:rPr>
              <a:t>Anatomy of an .asm 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/>
            <a:r>
              <a:rPr sz="1400" i="1">
                <a:solidFill>
                  <a:srgbClr val="6B7280"/>
                </a:solidFill>
                <a:latin typeface="Arial"/>
              </a:rPr>
              <a:t>Two sections, one syscall pattern - every program looks like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11277295" cy="338328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6350">
            <a:solidFill>
              <a:srgbClr val="5C7A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09728" bIns="109728" rtlCol="0" anchor="ctr"/>
          <a:lstStyle/>
          <a:p>
            <a:pPr algn="l">
              <a:lnSpc>
                <a:spcPct val="105000"/>
              </a:lnSpc>
            </a:pPr>
            <a:r>
              <a:rPr sz="1800" b="1" dirty="0">
                <a:solidFill>
                  <a:srgbClr val="9C27B0"/>
                </a:solidFill>
                <a:latin typeface="Consolas"/>
              </a:rPr>
              <a:t>.data                          </a:t>
            </a:r>
            <a:r>
              <a:rPr sz="1800" i="1" dirty="0">
                <a:solidFill>
                  <a:srgbClr val="6A737D"/>
                </a:solidFill>
                <a:latin typeface="Consolas"/>
              </a:rPr>
              <a:t># variables / constants live here</a:t>
            </a:r>
          </a:p>
          <a:p>
            <a:pPr algn="l">
              <a:lnSpc>
                <a:spcPct val="105000"/>
              </a:lnSpc>
            </a:pPr>
            <a:r>
              <a:rPr sz="1800" dirty="0">
                <a:solidFill>
                  <a:srgbClr val="141B29"/>
                </a:solidFill>
                <a:latin typeface="Consolas"/>
              </a:rPr>
              <a:t>    msg: .</a:t>
            </a:r>
            <a:r>
              <a:rPr sz="1800" dirty="0" err="1">
                <a:solidFill>
                  <a:srgbClr val="141B29"/>
                </a:solidFill>
                <a:latin typeface="Consolas"/>
              </a:rPr>
              <a:t>asciiz</a:t>
            </a:r>
            <a:r>
              <a:rPr sz="1800" dirty="0">
                <a:solidFill>
                  <a:srgbClr val="141B29"/>
                </a:solidFill>
                <a:latin typeface="Consolas"/>
              </a:rPr>
              <a:t> "Hello!"      </a:t>
            </a:r>
            <a:r>
              <a:rPr sz="1800" i="1" dirty="0">
                <a:solidFill>
                  <a:srgbClr val="6A737D"/>
                </a:solidFill>
                <a:latin typeface="Consolas"/>
              </a:rPr>
              <a:t># null-terminated string</a:t>
            </a:r>
          </a:p>
          <a:p>
            <a:pPr algn="l">
              <a:lnSpc>
                <a:spcPct val="105000"/>
              </a:lnSpc>
            </a:pPr>
            <a:endParaRPr sz="1800" i="1" dirty="0">
              <a:solidFill>
                <a:srgbClr val="6A737D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800" b="1" dirty="0">
                <a:solidFill>
                  <a:srgbClr val="9C27B0"/>
                </a:solidFill>
                <a:latin typeface="Consolas"/>
              </a:rPr>
              <a:t>.text                          </a:t>
            </a:r>
            <a:r>
              <a:rPr sz="1800" i="1" dirty="0">
                <a:solidFill>
                  <a:srgbClr val="6A737D"/>
                </a:solidFill>
                <a:latin typeface="Consolas"/>
              </a:rPr>
              <a:t># instructions live here</a:t>
            </a:r>
          </a:p>
          <a:p>
            <a:pPr algn="l">
              <a:lnSpc>
                <a:spcPct val="105000"/>
              </a:lnSpc>
            </a:pPr>
            <a:r>
              <a:rPr sz="1800" dirty="0">
                <a:solidFill>
                  <a:srgbClr val="141B29"/>
                </a:solidFill>
                <a:latin typeface="Consolas"/>
              </a:rPr>
              <a:t>    li   $v0, 4                </a:t>
            </a:r>
            <a:r>
              <a:rPr sz="1800" i="1" dirty="0">
                <a:solidFill>
                  <a:srgbClr val="6A737D"/>
                </a:solidFill>
                <a:latin typeface="Consolas"/>
              </a:rPr>
              <a:t># service code 4 = print string</a:t>
            </a:r>
          </a:p>
          <a:p>
            <a:pPr algn="l">
              <a:lnSpc>
                <a:spcPct val="105000"/>
              </a:lnSpc>
            </a:pPr>
            <a:r>
              <a:rPr sz="1800" dirty="0">
                <a:solidFill>
                  <a:srgbClr val="141B29"/>
                </a:solidFill>
                <a:latin typeface="Consolas"/>
              </a:rPr>
              <a:t>    la   $a0, msg              </a:t>
            </a:r>
            <a:r>
              <a:rPr sz="1800" i="1" dirty="0">
                <a:solidFill>
                  <a:srgbClr val="6A737D"/>
                </a:solidFill>
                <a:latin typeface="Consolas"/>
              </a:rPr>
              <a:t># argument: address of the string</a:t>
            </a:r>
          </a:p>
          <a:p>
            <a:pPr algn="l">
              <a:lnSpc>
                <a:spcPct val="105000"/>
              </a:lnSpc>
            </a:pPr>
            <a:r>
              <a:rPr sz="1800" dirty="0">
                <a:solidFill>
                  <a:srgbClr val="141B29"/>
                </a:solidFill>
                <a:latin typeface="Consolas"/>
              </a:rPr>
              <a:t>    </a:t>
            </a:r>
            <a:r>
              <a:rPr sz="1800" dirty="0" err="1">
                <a:solidFill>
                  <a:srgbClr val="141B29"/>
                </a:solidFill>
                <a:latin typeface="Consolas"/>
              </a:rPr>
              <a:t>syscall</a:t>
            </a:r>
            <a:r>
              <a:rPr sz="1800" dirty="0">
                <a:solidFill>
                  <a:srgbClr val="141B29"/>
                </a:solidFill>
                <a:latin typeface="Consolas"/>
              </a:rPr>
              <a:t>                    </a:t>
            </a:r>
            <a:r>
              <a:rPr sz="1800" i="1" dirty="0">
                <a:solidFill>
                  <a:srgbClr val="6A737D"/>
                </a:solidFill>
                <a:latin typeface="Consolas"/>
              </a:rPr>
              <a:t># ask the OS to do it</a:t>
            </a:r>
          </a:p>
          <a:p>
            <a:pPr algn="l">
              <a:lnSpc>
                <a:spcPct val="105000"/>
              </a:lnSpc>
            </a:pPr>
            <a:endParaRPr sz="1800" i="1" dirty="0">
              <a:solidFill>
                <a:srgbClr val="6A737D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800" dirty="0">
                <a:solidFill>
                  <a:srgbClr val="141B29"/>
                </a:solidFill>
                <a:latin typeface="Consolas"/>
              </a:rPr>
              <a:t>    li   $v0, 10               </a:t>
            </a:r>
            <a:r>
              <a:rPr sz="1800" i="1" dirty="0">
                <a:solidFill>
                  <a:srgbClr val="6A737D"/>
                </a:solidFill>
                <a:latin typeface="Consolas"/>
              </a:rPr>
              <a:t># service code 10 = exit</a:t>
            </a:r>
          </a:p>
          <a:p>
            <a:pPr algn="l">
              <a:lnSpc>
                <a:spcPct val="105000"/>
              </a:lnSpc>
            </a:pPr>
            <a:r>
              <a:rPr sz="1800" dirty="0">
                <a:solidFill>
                  <a:srgbClr val="141B29"/>
                </a:solidFill>
                <a:latin typeface="Consolas"/>
              </a:rPr>
              <a:t>    </a:t>
            </a:r>
            <a:r>
              <a:rPr sz="1800" dirty="0" err="1">
                <a:solidFill>
                  <a:srgbClr val="141B29"/>
                </a:solidFill>
                <a:latin typeface="Consolas"/>
              </a:rPr>
              <a:t>syscall</a:t>
            </a:r>
            <a:r>
              <a:rPr sz="1800" dirty="0">
                <a:solidFill>
                  <a:srgbClr val="141B29"/>
                </a:solidFill>
                <a:latin typeface="Consolas"/>
              </a:rPr>
              <a:t>                    </a:t>
            </a:r>
            <a:r>
              <a:rPr sz="1800" i="1" dirty="0">
                <a:solidFill>
                  <a:srgbClr val="6A737D"/>
                </a:solidFill>
                <a:latin typeface="Consolas"/>
              </a:rPr>
              <a:t># clean termination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48640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Pattern: load syscall code into $v0  -&gt;  load arguments  -&gt;  syscall</a:t>
            </a:r>
          </a:p>
        </p:txBody>
      </p:sp>
      <p:sp>
        <p:nvSpPr>
          <p:cNvPr id="7" name="topic_label"/>
          <p:cNvSpPr txBox="1"/>
          <p:nvPr/>
        </p:nvSpPr>
        <p:spPr>
          <a:xfrm>
            <a:off x="274320" y="292608"/>
            <a:ext cx="64008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Anatomy of an .asm File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ctr"/>
          <a:lstStyle/>
          <a:p>
            <a:pPr algn="l"/>
            <a:r>
              <a:rPr sz="3200" b="1">
                <a:solidFill>
                  <a:srgbClr val="1E3A5F"/>
                </a:solidFill>
                <a:latin typeface="Arial"/>
              </a:rPr>
              <a:t>Lesson 3 - Print a String  (syscall 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6858000" cy="36576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6350">
            <a:solidFill>
              <a:srgbClr val="5C7A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09728" bIns="109728" rtlCol="0" anchor="ctr"/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9C27B0"/>
                </a:solidFill>
                <a:latin typeface="Consolas"/>
              </a:rPr>
              <a:t>.data</a:t>
            </a: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    msg: .asciiz "Hello World!"</a:t>
            </a:r>
          </a:p>
          <a:p>
            <a:pPr algn="l">
              <a:lnSpc>
                <a:spcPct val="105000"/>
              </a:lnSpc>
            </a:pPr>
            <a:endParaRPr sz="1500">
              <a:solidFill>
                <a:srgbClr val="141B2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500" b="1">
                <a:solidFill>
                  <a:srgbClr val="9C27B0"/>
                </a:solidFill>
                <a:latin typeface="Consolas"/>
              </a:rPr>
              <a:t>.text</a:t>
            </a: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    li   $v0, 4          </a:t>
            </a:r>
            <a:r>
              <a:rPr sz="1500" i="1">
                <a:solidFill>
                  <a:srgbClr val="6A737D"/>
                </a:solidFill>
                <a:latin typeface="Consolas"/>
              </a:rPr>
              <a:t># 4 = print string</a:t>
            </a: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    la   $a0, msg        </a:t>
            </a:r>
            <a:r>
              <a:rPr sz="1500" i="1">
                <a:solidFill>
                  <a:srgbClr val="6A737D"/>
                </a:solidFill>
                <a:latin typeface="Consolas"/>
              </a:rPr>
              <a:t># address of the string</a:t>
            </a: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    syscall</a:t>
            </a:r>
          </a:p>
          <a:p>
            <a:pPr algn="l">
              <a:lnSpc>
                <a:spcPct val="105000"/>
              </a:lnSpc>
            </a:pPr>
            <a:endParaRPr sz="1500">
              <a:solidFill>
                <a:srgbClr val="141B2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    li   $v0, 10         </a:t>
            </a:r>
            <a:r>
              <a:rPr sz="1500" i="1">
                <a:solidFill>
                  <a:srgbClr val="6A737D"/>
                </a:solidFill>
                <a:latin typeface="Consolas"/>
              </a:rPr>
              <a:t># 10 = exit</a:t>
            </a: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    syscall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554480"/>
            <a:ext cx="4114800" cy="3657600"/>
          </a:xfrm>
          <a:prstGeom prst="roundRect">
            <a:avLst>
              <a:gd name="adj" fmla="val 3000"/>
            </a:avLst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0" y="1691640"/>
            <a:ext cx="37490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5F"/>
                </a:solidFill>
                <a:latin typeface="Arial"/>
              </a:rPr>
              <a:t>Key ideas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2011680"/>
            <a:ext cx="3749040" cy="3200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12121"/>
                </a:solidFill>
                <a:latin typeface="Arial"/>
              </a:rPr>
              <a:t>.asciiz   stores text + a 0 byte at the end.</a:t>
            </a:r>
          </a:p>
          <a:p>
            <a:pPr algn="l">
              <a:lnSpc>
                <a:spcPct val="120000"/>
              </a:lnSpc>
            </a:pPr>
            <a:endParaRPr sz="1300" b="0" i="0">
              <a:solidFill>
                <a:srgbClr val="212121"/>
              </a:solidFill>
              <a:latin typeface="Arial"/>
            </a:endParaRP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12121"/>
                </a:solidFill>
                <a:latin typeface="Arial"/>
              </a:rPr>
              <a:t>li   loads an immediate (constant) into a register.</a:t>
            </a:r>
          </a:p>
          <a:p>
            <a:pPr algn="l">
              <a:lnSpc>
                <a:spcPct val="120000"/>
              </a:lnSpc>
            </a:pPr>
            <a:endParaRPr sz="1300" b="0" i="0">
              <a:solidFill>
                <a:srgbClr val="212121"/>
              </a:solidFill>
              <a:latin typeface="Arial"/>
            </a:endParaRP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12121"/>
                </a:solidFill>
                <a:latin typeface="Arial"/>
              </a:rPr>
              <a:t>la   loads the ADDRESS of a label  -  not the value.</a:t>
            </a:r>
          </a:p>
          <a:p>
            <a:pPr algn="l">
              <a:lnSpc>
                <a:spcPct val="120000"/>
              </a:lnSpc>
            </a:pPr>
            <a:endParaRPr sz="1300" b="0" i="0">
              <a:solidFill>
                <a:srgbClr val="212121"/>
              </a:solidFill>
              <a:latin typeface="Arial"/>
            </a:endParaRP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12121"/>
                </a:solidFill>
                <a:latin typeface="Arial"/>
              </a:rPr>
              <a:t>syscall hands control to the OS to actually print.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Output:  Hello World!</a:t>
            </a:r>
          </a:p>
        </p:txBody>
      </p:sp>
      <p:sp>
        <p:nvSpPr>
          <p:cNvPr id="9" name="topic_label"/>
          <p:cNvSpPr txBox="1"/>
          <p:nvPr/>
        </p:nvSpPr>
        <p:spPr>
          <a:xfrm>
            <a:off x="274320" y="292608"/>
            <a:ext cx="64008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Lesson 3  -  Print a String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ctr"/>
          <a:lstStyle/>
          <a:p>
            <a:pPr algn="l"/>
            <a:r>
              <a:rPr sz="3200" b="1">
                <a:solidFill>
                  <a:srgbClr val="1E3A5F"/>
                </a:solidFill>
                <a:latin typeface="Arial"/>
              </a:rPr>
              <a:t>Lessons 4 &amp; 5 - Print Character / Integer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/>
            <a:r>
              <a:rPr sz="1400" i="1">
                <a:solidFill>
                  <a:srgbClr val="6B7280"/>
                </a:solidFill>
                <a:latin typeface="Arial"/>
              </a:rPr>
              <a:t>Same pattern, different syscall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E3A5F"/>
                </a:solidFill>
                <a:latin typeface="Arial"/>
              </a:rPr>
              <a:t>Print a Character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5486400" cy="32004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6350">
            <a:solidFill>
              <a:srgbClr val="5C7A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09728" bIns="109728" rtlCol="0" anchor="ctr"/>
          <a:lstStyle/>
          <a:p>
            <a:pPr algn="l">
              <a:lnSpc>
                <a:spcPct val="105000"/>
              </a:lnSpc>
            </a:pPr>
            <a:r>
              <a:rPr sz="1500" i="1">
                <a:solidFill>
                  <a:srgbClr val="6A737D"/>
                </a:solidFill>
                <a:latin typeface="Consolas"/>
              </a:rPr>
              <a:t># syscall 11 = print one character</a:t>
            </a:r>
          </a:p>
          <a:p>
            <a:pPr algn="l">
              <a:lnSpc>
                <a:spcPct val="105000"/>
              </a:lnSpc>
            </a:pPr>
            <a:endParaRPr sz="1500" i="1">
              <a:solidFill>
                <a:srgbClr val="6A737D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li   $v0, 11</a:t>
            </a: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li   $a0, 'A'        </a:t>
            </a:r>
            <a:r>
              <a:rPr sz="1500" i="1">
                <a:solidFill>
                  <a:srgbClr val="6A737D"/>
                </a:solidFill>
                <a:latin typeface="Consolas"/>
              </a:rPr>
              <a:t># ASCII 65</a:t>
            </a: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syscall</a:t>
            </a:r>
          </a:p>
          <a:p>
            <a:pPr algn="l">
              <a:lnSpc>
                <a:spcPct val="105000"/>
              </a:lnSpc>
            </a:pPr>
            <a:endParaRPr sz="1500">
              <a:solidFill>
                <a:srgbClr val="141B2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li   $v0, 10</a:t>
            </a: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syscall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5352" y="178308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E3A5F"/>
                </a:solidFill>
                <a:latin typeface="Arial"/>
              </a:rPr>
              <a:t>Print an Integer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2194560"/>
            <a:ext cx="5486400" cy="32004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6350">
            <a:solidFill>
              <a:srgbClr val="5C7A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09728" bIns="109728" rtlCol="0" anchor="ctr"/>
          <a:lstStyle/>
          <a:p>
            <a:pPr algn="l">
              <a:lnSpc>
                <a:spcPct val="105000"/>
              </a:lnSpc>
            </a:pPr>
            <a:r>
              <a:rPr sz="1500" i="1">
                <a:solidFill>
                  <a:srgbClr val="6A737D"/>
                </a:solidFill>
                <a:latin typeface="Consolas"/>
              </a:rPr>
              <a:t># syscall 1 = print signed 32-bit int</a:t>
            </a:r>
          </a:p>
          <a:p>
            <a:pPr algn="l">
              <a:lnSpc>
                <a:spcPct val="105000"/>
              </a:lnSpc>
            </a:pPr>
            <a:endParaRPr sz="1500" i="1">
              <a:solidFill>
                <a:srgbClr val="6A737D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li   $v0, 1</a:t>
            </a: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li   $a0, 42</a:t>
            </a: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syscall</a:t>
            </a:r>
          </a:p>
          <a:p>
            <a:pPr algn="l">
              <a:lnSpc>
                <a:spcPct val="105000"/>
              </a:lnSpc>
            </a:pPr>
            <a:endParaRPr sz="1500">
              <a:solidFill>
                <a:srgbClr val="141B2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li   $v0, 10</a:t>
            </a: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syscall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669280"/>
            <a:ext cx="11247120" cy="548640"/>
          </a:xfrm>
          <a:prstGeom prst="roundRect">
            <a:avLst>
              <a:gd name="adj" fmla="val 8000"/>
            </a:avLst>
          </a:prstGeom>
          <a:solidFill>
            <a:srgbClr val="5C7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syscall code in $v0  +  argument in $a0  -&gt;  syscall</a:t>
            </a:r>
          </a:p>
        </p:txBody>
      </p:sp>
      <p:sp>
        <p:nvSpPr>
          <p:cNvPr id="10" name="topic_label"/>
          <p:cNvSpPr txBox="1"/>
          <p:nvPr/>
        </p:nvSpPr>
        <p:spPr>
          <a:xfrm>
            <a:off x="274320" y="292608"/>
            <a:ext cx="64008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Lessons 4 &amp; 5  -  Print Character / Integer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ctr"/>
          <a:lstStyle/>
          <a:p>
            <a:pPr algn="l"/>
            <a:r>
              <a:rPr sz="3200" b="1">
                <a:solidFill>
                  <a:srgbClr val="1E3A5F"/>
                </a:solidFill>
                <a:latin typeface="Arial"/>
              </a:rPr>
              <a:t>Lessons 6 &amp; 7 - Print Float / Double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/>
            <a:r>
              <a:rPr sz="1400" i="1">
                <a:solidFill>
                  <a:srgbClr val="6B7280"/>
                </a:solidFill>
                <a:latin typeface="Arial"/>
              </a:rPr>
              <a:t>FP arguments live in $f12 (and $f13 for doubles)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E3A5F"/>
                </a:solidFill>
                <a:latin typeface="Arial"/>
              </a:rPr>
              <a:t>Float (32-bit, syscall 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6350">
            <a:solidFill>
              <a:srgbClr val="5C7A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09728" bIns="109728" rtlCol="0" anchor="ctr"/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9C27B0"/>
                </a:solidFill>
                <a:latin typeface="Consolas"/>
              </a:rPr>
              <a:t>.data</a:t>
            </a: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    pi: .float 3.14159</a:t>
            </a:r>
          </a:p>
          <a:p>
            <a:pPr algn="l">
              <a:lnSpc>
                <a:spcPct val="105000"/>
              </a:lnSpc>
            </a:pPr>
            <a:endParaRPr sz="1500">
              <a:solidFill>
                <a:srgbClr val="141B2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500" b="1">
                <a:solidFill>
                  <a:srgbClr val="9C27B0"/>
                </a:solidFill>
                <a:latin typeface="Consolas"/>
              </a:rPr>
              <a:t>.text</a:t>
            </a: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    li   $v0, 2          </a:t>
            </a:r>
            <a:r>
              <a:rPr sz="1500" i="1">
                <a:solidFill>
                  <a:srgbClr val="6A737D"/>
                </a:solidFill>
                <a:latin typeface="Consolas"/>
              </a:rPr>
              <a:t># print float</a:t>
            </a: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    lwc1 $f12, pi</a:t>
            </a: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    syscall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5352" y="178308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E3A5F"/>
                </a:solidFill>
                <a:latin typeface="Arial"/>
              </a:rPr>
              <a:t>Double (64-bit, syscall 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219456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6350">
            <a:solidFill>
              <a:srgbClr val="5C7A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09728" bIns="109728" rtlCol="0" anchor="ctr"/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9C27B0"/>
                </a:solidFill>
                <a:latin typeface="Consolas"/>
              </a:rPr>
              <a:t>.data</a:t>
            </a: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    pi: .double 3.141592653589793</a:t>
            </a:r>
          </a:p>
          <a:p>
            <a:pPr algn="l">
              <a:lnSpc>
                <a:spcPct val="105000"/>
              </a:lnSpc>
            </a:pPr>
            <a:endParaRPr sz="1500">
              <a:solidFill>
                <a:srgbClr val="141B2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500" b="1">
                <a:solidFill>
                  <a:srgbClr val="9C27B0"/>
                </a:solidFill>
                <a:latin typeface="Consolas"/>
              </a:rPr>
              <a:t>.text</a:t>
            </a: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    li   $v0, 3          </a:t>
            </a:r>
            <a:r>
              <a:rPr sz="1500" i="1">
                <a:solidFill>
                  <a:srgbClr val="6A737D"/>
                </a:solidFill>
                <a:latin typeface="Consolas"/>
              </a:rPr>
              <a:t># print double</a:t>
            </a: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    l.d  $f12, pi        </a:t>
            </a:r>
            <a:r>
              <a:rPr sz="1500" i="1">
                <a:solidFill>
                  <a:srgbClr val="6A737D"/>
                </a:solidFill>
                <a:latin typeface="Consolas"/>
              </a:rPr>
              <a:t># loads $f12 + $f13</a:t>
            </a: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    syscall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212080"/>
            <a:ext cx="11247120" cy="54864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Doubles ALWAYS occupy a pair: $f12 + $f13, $f20 + $f21,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852160"/>
            <a:ext cx="11247120" cy="54864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Use 'lwc1' for floats and 'l.d' for doubles  -  do NOT use plain 'lw'</a:t>
            </a:r>
          </a:p>
        </p:txBody>
      </p:sp>
      <p:sp>
        <p:nvSpPr>
          <p:cNvPr id="11" name="topic_label"/>
          <p:cNvSpPr txBox="1"/>
          <p:nvPr/>
        </p:nvSpPr>
        <p:spPr>
          <a:xfrm>
            <a:off x="274320" y="292608"/>
            <a:ext cx="64008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Lessons 6 &amp; 7  -  Print Float / Double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ctr"/>
          <a:lstStyle/>
          <a:p>
            <a:pPr algn="l"/>
            <a:r>
              <a:rPr sz="3200" b="1">
                <a:solidFill>
                  <a:srgbClr val="1E3A5F"/>
                </a:solidFill>
                <a:latin typeface="Arial"/>
              </a:rPr>
              <a:t>Lessons 8 &amp; 9 - Add and Subtract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/>
            <a:r>
              <a:rPr sz="1400" i="1">
                <a:solidFill>
                  <a:srgbClr val="6B7280"/>
                </a:solidFill>
                <a:latin typeface="Arial"/>
              </a:rPr>
              <a:t>Load operands  -&gt;  compute  -&gt;  print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11277295" cy="420624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6350">
            <a:solidFill>
              <a:srgbClr val="5C7A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09728" bIns="109728" rtlCol="0" anchor="ctr"/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9C27B0"/>
                </a:solidFill>
                <a:latin typeface="Consolas"/>
              </a:rPr>
              <a:t>.data</a:t>
            </a: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    num1: .word 30</a:t>
            </a: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    num2: .word 12</a:t>
            </a:r>
          </a:p>
          <a:p>
            <a:pPr algn="l">
              <a:lnSpc>
                <a:spcPct val="105000"/>
              </a:lnSpc>
            </a:pPr>
            <a:endParaRPr sz="1500">
              <a:solidFill>
                <a:srgbClr val="141B2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500" b="1">
                <a:solidFill>
                  <a:srgbClr val="9C27B0"/>
                </a:solidFill>
                <a:latin typeface="Consolas"/>
              </a:rPr>
              <a:t>.text</a:t>
            </a: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    lw   $t0, num1            </a:t>
            </a:r>
            <a:r>
              <a:rPr sz="1500" i="1">
                <a:solidFill>
                  <a:srgbClr val="6A737D"/>
                </a:solidFill>
                <a:latin typeface="Consolas"/>
              </a:rPr>
              <a:t># $t0 = 30</a:t>
            </a: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    lw   $t1, num2            </a:t>
            </a:r>
            <a:r>
              <a:rPr sz="1500" i="1">
                <a:solidFill>
                  <a:srgbClr val="6A737D"/>
                </a:solidFill>
                <a:latin typeface="Consolas"/>
              </a:rPr>
              <a:t># $t1 = 12</a:t>
            </a:r>
          </a:p>
          <a:p>
            <a:pPr algn="l">
              <a:lnSpc>
                <a:spcPct val="105000"/>
              </a:lnSpc>
            </a:pPr>
            <a:endParaRPr sz="1500" i="1">
              <a:solidFill>
                <a:srgbClr val="6A737D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    add  $t2, $t0, $t1        </a:t>
            </a:r>
            <a:r>
              <a:rPr sz="1500" i="1">
                <a:solidFill>
                  <a:srgbClr val="6A737D"/>
                </a:solidFill>
                <a:latin typeface="Consolas"/>
              </a:rPr>
              <a:t>#  -&gt; 42       (Lesson 8)</a:t>
            </a: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    sub  $t3, $t0, $t1        </a:t>
            </a:r>
            <a:r>
              <a:rPr sz="1500" i="1">
                <a:solidFill>
                  <a:srgbClr val="6A737D"/>
                </a:solidFill>
                <a:latin typeface="Consolas"/>
              </a:rPr>
              <a:t>#  -&gt; 18       (Lesson 9)</a:t>
            </a:r>
          </a:p>
          <a:p>
            <a:pPr algn="l">
              <a:lnSpc>
                <a:spcPct val="105000"/>
              </a:lnSpc>
            </a:pPr>
            <a:endParaRPr sz="1500" i="1">
              <a:solidFill>
                <a:srgbClr val="6A737D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    li   $v0, 1               </a:t>
            </a:r>
            <a:r>
              <a:rPr sz="1500" i="1">
                <a:solidFill>
                  <a:srgbClr val="6A737D"/>
                </a:solidFill>
                <a:latin typeface="Consolas"/>
              </a:rPr>
              <a:t># print int</a:t>
            </a: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    move $a0, $t2             </a:t>
            </a:r>
            <a:r>
              <a:rPr sz="1500" i="1">
                <a:solidFill>
                  <a:srgbClr val="6A737D"/>
                </a:solidFill>
                <a:latin typeface="Consolas"/>
              </a:rPr>
              <a:t># ('move' = pseudo for 'add ..., $zero')</a:t>
            </a: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    syscall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080760"/>
            <a:ext cx="11247120" cy="50292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All R-type arithmetic has the same shape:  op  rd, rs, rt</a:t>
            </a:r>
          </a:p>
        </p:txBody>
      </p:sp>
      <p:sp>
        <p:nvSpPr>
          <p:cNvPr id="7" name="topic_label"/>
          <p:cNvSpPr txBox="1"/>
          <p:nvPr/>
        </p:nvSpPr>
        <p:spPr>
          <a:xfrm>
            <a:off x="274320" y="292608"/>
            <a:ext cx="64008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Lessons 8 &amp; 9  -  Add and Subtract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ctr"/>
          <a:lstStyle/>
          <a:p>
            <a:pPr algn="l"/>
            <a:r>
              <a:rPr sz="3200" b="1">
                <a:solidFill>
                  <a:srgbClr val="1E3A5F"/>
                </a:solidFill>
                <a:latin typeface="Arial"/>
              </a:rPr>
              <a:t>Lessons 10 &amp; 11 - Multiplication: mul vs mult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/>
            <a:r>
              <a:rPr sz="1400" i="1">
                <a:solidFill>
                  <a:srgbClr val="6B7280"/>
                </a:solidFill>
                <a:latin typeface="Arial"/>
              </a:rPr>
              <a:t>Pseudo-instruction (easy) versus the real hardware (precise)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E3A5F"/>
                </a:solidFill>
                <a:latin typeface="Arial"/>
              </a:rPr>
              <a:t>Lesson 10  -  mul (pseudo)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6350">
            <a:solidFill>
              <a:srgbClr val="5C7A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09728" bIns="109728" rtlCol="0" anchor="ctr"/>
          <a:lstStyle/>
          <a:p>
            <a:pPr algn="l">
              <a:lnSpc>
                <a:spcPct val="105000"/>
              </a:lnSpc>
            </a:pPr>
            <a:r>
              <a:rPr sz="1400" i="1">
                <a:solidFill>
                  <a:srgbClr val="6A737D"/>
                </a:solidFill>
                <a:latin typeface="Consolas"/>
              </a:rPr>
              <a:t># 'mul' - PSEUDO, 3 operands</a:t>
            </a:r>
          </a:p>
          <a:p>
            <a:pPr algn="l">
              <a:lnSpc>
                <a:spcPct val="105000"/>
              </a:lnSpc>
            </a:pPr>
            <a:r>
              <a:rPr sz="1400" i="1">
                <a:solidFill>
                  <a:srgbClr val="6A737D"/>
                </a:solidFill>
                <a:latin typeface="Consolas"/>
              </a:rPr>
              <a:t># Result goes directly into $t2.</a:t>
            </a:r>
          </a:p>
          <a:p>
            <a:pPr algn="l">
              <a:lnSpc>
                <a:spcPct val="105000"/>
              </a:lnSpc>
            </a:pPr>
            <a:r>
              <a:rPr sz="1400" i="1">
                <a:solidFill>
                  <a:srgbClr val="6A737D"/>
                </a:solidFill>
                <a:latin typeface="Consolas"/>
              </a:rPr>
              <a:t># Convenient if the answer fits in 32 bits.</a:t>
            </a:r>
          </a:p>
          <a:p>
            <a:pPr algn="l">
              <a:lnSpc>
                <a:spcPct val="105000"/>
              </a:lnSpc>
            </a:pPr>
            <a:endParaRPr sz="1400" i="1">
              <a:solidFill>
                <a:srgbClr val="6A737D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400">
                <a:solidFill>
                  <a:srgbClr val="141B29"/>
                </a:solidFill>
                <a:latin typeface="Consolas"/>
              </a:rPr>
              <a:t>mul  $t2, $t0, $t1     </a:t>
            </a:r>
            <a:r>
              <a:rPr sz="1400" i="1">
                <a:solidFill>
                  <a:srgbClr val="6A737D"/>
                </a:solidFill>
                <a:latin typeface="Consolas"/>
              </a:rPr>
              <a:t># $t2 = $t0 * $t1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5352" y="178308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E3A5F"/>
                </a:solidFill>
                <a:latin typeface="Arial"/>
              </a:rPr>
              <a:t>Lesson 11  -  mult (real)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219456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6350">
            <a:solidFill>
              <a:srgbClr val="5C7A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09728" bIns="109728" rtlCol="0" anchor="ctr"/>
          <a:lstStyle/>
          <a:p>
            <a:pPr algn="l">
              <a:lnSpc>
                <a:spcPct val="105000"/>
              </a:lnSpc>
            </a:pPr>
            <a:r>
              <a:rPr sz="1400" i="1">
                <a:solidFill>
                  <a:srgbClr val="6A737D"/>
                </a:solidFill>
                <a:latin typeface="Consolas"/>
              </a:rPr>
              <a:t># 'mult' - REAL, 2 operands</a:t>
            </a:r>
          </a:p>
          <a:p>
            <a:pPr algn="l">
              <a:lnSpc>
                <a:spcPct val="105000"/>
              </a:lnSpc>
            </a:pPr>
            <a:r>
              <a:rPr sz="1400" i="1">
                <a:solidFill>
                  <a:srgbClr val="6A737D"/>
                </a:solidFill>
                <a:latin typeface="Consolas"/>
              </a:rPr>
              <a:t># Result is 64 bits, split across HI:LO.</a:t>
            </a:r>
          </a:p>
          <a:p>
            <a:pPr algn="l">
              <a:lnSpc>
                <a:spcPct val="105000"/>
              </a:lnSpc>
            </a:pPr>
            <a:endParaRPr sz="1400" i="1">
              <a:solidFill>
                <a:srgbClr val="6A737D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400">
                <a:solidFill>
                  <a:srgbClr val="141B29"/>
                </a:solidFill>
                <a:latin typeface="Consolas"/>
              </a:rPr>
              <a:t>mult $t0, $t1</a:t>
            </a:r>
          </a:p>
          <a:p>
            <a:pPr algn="l">
              <a:lnSpc>
                <a:spcPct val="105000"/>
              </a:lnSpc>
            </a:pPr>
            <a:r>
              <a:rPr sz="1400">
                <a:solidFill>
                  <a:srgbClr val="141B29"/>
                </a:solidFill>
                <a:latin typeface="Consolas"/>
              </a:rPr>
              <a:t>mflo $t2               </a:t>
            </a:r>
            <a:r>
              <a:rPr sz="1400" i="1">
                <a:solidFill>
                  <a:srgbClr val="6A737D"/>
                </a:solidFill>
                <a:latin typeface="Consolas"/>
              </a:rPr>
              <a:t># low  32 bits</a:t>
            </a:r>
          </a:p>
          <a:p>
            <a:pPr algn="l">
              <a:lnSpc>
                <a:spcPct val="105000"/>
              </a:lnSpc>
            </a:pPr>
            <a:r>
              <a:rPr sz="1400">
                <a:solidFill>
                  <a:srgbClr val="141B29"/>
                </a:solidFill>
                <a:latin typeface="Consolas"/>
              </a:rPr>
              <a:t>mfhi $t3               </a:t>
            </a:r>
            <a:r>
              <a:rPr sz="1400" i="1">
                <a:solidFill>
                  <a:srgbClr val="6A737D"/>
                </a:solidFill>
                <a:latin typeface="Consolas"/>
              </a:rPr>
              <a:t># high 32 bits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212080"/>
            <a:ext cx="11247120" cy="54864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100000 * 50000 overflows 32 bits  -&gt;  use mult + mfhi/mflo to keep the upper word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852160"/>
            <a:ext cx="11247120" cy="54864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Rule of thumb: prototype with 'mul', switch to 'mult' when correctness matters</a:t>
            </a:r>
          </a:p>
        </p:txBody>
      </p:sp>
      <p:sp>
        <p:nvSpPr>
          <p:cNvPr id="11" name="topic_label"/>
          <p:cNvSpPr txBox="1"/>
          <p:nvPr/>
        </p:nvSpPr>
        <p:spPr>
          <a:xfrm>
            <a:off x="274320" y="292608"/>
            <a:ext cx="64008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Lessons 10 &amp; 11  -  mul vs mult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ctr"/>
          <a:lstStyle/>
          <a:p>
            <a:pPr algn="l"/>
            <a:r>
              <a:rPr sz="3200" b="1">
                <a:solidFill>
                  <a:srgbClr val="1E3A5F"/>
                </a:solidFill>
                <a:latin typeface="Arial"/>
              </a:rPr>
              <a:t>Lesson 12 - Multiply via Shift  (sll)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/>
            <a:r>
              <a:rPr sz="1400" i="1">
                <a:solidFill>
                  <a:srgbClr val="6B7280"/>
                </a:solidFill>
                <a:latin typeface="Arial"/>
              </a:rPr>
              <a:t>When the multiplier is a power of two, shifting is much faster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11277295" cy="219456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6350">
            <a:solidFill>
              <a:srgbClr val="5C7A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09728" bIns="109728" rtlCol="0" anchor="ctr"/>
          <a:lstStyle/>
          <a:p>
            <a:pPr algn="l">
              <a:lnSpc>
                <a:spcPct val="105000"/>
              </a:lnSpc>
            </a:pPr>
            <a:r>
              <a:rPr sz="1800">
                <a:solidFill>
                  <a:srgbClr val="141B29"/>
                </a:solidFill>
                <a:latin typeface="Consolas"/>
              </a:rPr>
              <a:t>lw   $t0, num         </a:t>
            </a:r>
            <a:r>
              <a:rPr sz="1800" i="1">
                <a:solidFill>
                  <a:srgbClr val="6A737D"/>
                </a:solidFill>
                <a:latin typeface="Consolas"/>
              </a:rPr>
              <a:t># $t0 = 5</a:t>
            </a:r>
          </a:p>
          <a:p>
            <a:pPr algn="l">
              <a:lnSpc>
                <a:spcPct val="105000"/>
              </a:lnSpc>
            </a:pPr>
            <a:endParaRPr sz="1800" i="1">
              <a:solidFill>
                <a:srgbClr val="6A737D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800">
                <a:solidFill>
                  <a:srgbClr val="141B29"/>
                </a:solidFill>
                <a:latin typeface="Consolas"/>
              </a:rPr>
              <a:t>sll  $t1, $t0, 3      </a:t>
            </a:r>
            <a:r>
              <a:rPr sz="1800" i="1">
                <a:solidFill>
                  <a:srgbClr val="6A737D"/>
                </a:solidFill>
                <a:latin typeface="Consolas"/>
              </a:rPr>
              <a:t># $t1 = 5 &lt;&lt; 3 = 5 * 2^3 = 40</a:t>
            </a:r>
          </a:p>
          <a:p>
            <a:pPr algn="l">
              <a:lnSpc>
                <a:spcPct val="105000"/>
              </a:lnSpc>
            </a:pPr>
            <a:endParaRPr sz="1800" i="1">
              <a:solidFill>
                <a:srgbClr val="6A737D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800" i="1">
                <a:solidFill>
                  <a:srgbClr val="6A737D"/>
                </a:solidFill>
                <a:latin typeface="Consolas"/>
              </a:rPr>
              <a:t># General rule:    x &lt;&lt; n   ==   x * (2^n)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14800"/>
            <a:ext cx="11274552" cy="2286000"/>
          </a:xfrm>
          <a:prstGeom prst="roundRect">
            <a:avLst>
              <a:gd name="adj" fmla="val 3000"/>
            </a:avLst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4206240"/>
            <a:ext cx="3657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5F"/>
                </a:solidFill>
                <a:latin typeface="Arial"/>
              </a:rPr>
              <a:t>Bit picture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617720"/>
            <a:ext cx="10972800" cy="182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121"/>
                </a:solidFill>
                <a:latin typeface="Arial"/>
              </a:rPr>
              <a:t>5             =  0000 0000 0000 0000 0000 0000 0000 0101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121"/>
                </a:solidFill>
                <a:latin typeface="Arial"/>
              </a:rPr>
              <a:t>5 &lt;&lt; 3        =  0000 0000 0000 0000 0000 0000 0010 1000   ( = 40 )</a:t>
            </a:r>
          </a:p>
          <a:p>
            <a:pPr algn="l">
              <a:lnSpc>
                <a:spcPct val="120000"/>
              </a:lnSpc>
            </a:pPr>
            <a:endParaRPr sz="1400" b="0" i="0">
              <a:solidFill>
                <a:srgbClr val="212121"/>
              </a:solidFill>
              <a:latin typeface="Arial"/>
            </a:endParaRP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121"/>
                </a:solidFill>
                <a:latin typeface="Arial"/>
              </a:rPr>
              <a:t>Each left shift inserts a 0 on the right -&gt; value doubles.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121"/>
                </a:solidFill>
                <a:latin typeface="Arial"/>
              </a:rPr>
              <a:t>3 left shifts  -&gt;  multiplied by 2 * 2 * 2 = 8.</a:t>
            </a:r>
          </a:p>
        </p:txBody>
      </p:sp>
      <p:sp>
        <p:nvSpPr>
          <p:cNvPr id="9" name="topic_label"/>
          <p:cNvSpPr txBox="1"/>
          <p:nvPr/>
        </p:nvSpPr>
        <p:spPr>
          <a:xfrm>
            <a:off x="274320" y="292608"/>
            <a:ext cx="64008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Lesson 12  -  Multiply via Shift (sll)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ctr"/>
          <a:lstStyle/>
          <a:p>
            <a:pPr algn="l"/>
            <a:r>
              <a:rPr sz="3200" b="1">
                <a:solidFill>
                  <a:srgbClr val="1E3A5F"/>
                </a:solidFill>
                <a:latin typeface="Arial"/>
              </a:rPr>
              <a:t>Lessons 13 &amp; 14 - Division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/>
            <a:r>
              <a:rPr sz="1400" i="1">
                <a:solidFill>
                  <a:srgbClr val="6B7280"/>
                </a:solidFill>
                <a:latin typeface="Arial"/>
              </a:rPr>
              <a:t>Symmetric to multiplication: pseudo gives quotient, real gives both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E3A5F"/>
                </a:solidFill>
                <a:latin typeface="Arial"/>
              </a:rPr>
              <a:t>Lesson 13  -  pseudo (quotient only)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5486400" cy="237744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6350">
            <a:solidFill>
              <a:srgbClr val="5C7A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09728" bIns="109728" rtlCol="0" anchor="ctr"/>
          <a:lstStyle/>
          <a:p>
            <a:pPr algn="l">
              <a:lnSpc>
                <a:spcPct val="105000"/>
              </a:lnSpc>
            </a:pPr>
            <a:r>
              <a:rPr sz="1500" i="1">
                <a:solidFill>
                  <a:srgbClr val="6A737D"/>
                </a:solidFill>
                <a:latin typeface="Consolas"/>
              </a:rPr>
              <a:t># 'div' - PSEUDO, 3 operands</a:t>
            </a:r>
          </a:p>
          <a:p>
            <a:pPr algn="l">
              <a:lnSpc>
                <a:spcPct val="105000"/>
              </a:lnSpc>
            </a:pPr>
            <a:r>
              <a:rPr sz="1500" i="1">
                <a:solidFill>
                  <a:srgbClr val="6A737D"/>
                </a:solidFill>
                <a:latin typeface="Consolas"/>
              </a:rPr>
              <a:t># Stores ONLY the quotient.</a:t>
            </a:r>
          </a:p>
          <a:p>
            <a:pPr algn="l">
              <a:lnSpc>
                <a:spcPct val="105000"/>
              </a:lnSpc>
            </a:pPr>
            <a:endParaRPr sz="1500" i="1">
              <a:solidFill>
                <a:srgbClr val="6A737D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div  $t2, $t0, $t1</a:t>
            </a:r>
          </a:p>
          <a:p>
            <a:pPr algn="l">
              <a:lnSpc>
                <a:spcPct val="105000"/>
              </a:lnSpc>
            </a:pPr>
            <a:r>
              <a:rPr sz="1500" i="1">
                <a:solidFill>
                  <a:srgbClr val="6A737D"/>
                </a:solidFill>
                <a:latin typeface="Consolas"/>
              </a:rPr>
              <a:t># 17 / 5 -&gt; $t2 = 3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5352" y="178308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E3A5F"/>
                </a:solidFill>
                <a:latin typeface="Arial"/>
              </a:rPr>
              <a:t>Lesson 14  -  real (quotient + remainder)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2194560"/>
            <a:ext cx="5486400" cy="237744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6350">
            <a:solidFill>
              <a:srgbClr val="5C7A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09728" bIns="109728" rtlCol="0" anchor="ctr"/>
          <a:lstStyle/>
          <a:p>
            <a:pPr algn="l">
              <a:lnSpc>
                <a:spcPct val="105000"/>
              </a:lnSpc>
            </a:pPr>
            <a:r>
              <a:rPr sz="1500" i="1">
                <a:solidFill>
                  <a:srgbClr val="6A737D"/>
                </a:solidFill>
                <a:latin typeface="Consolas"/>
              </a:rPr>
              <a:t># 'div' - REAL, 2 operands</a:t>
            </a:r>
          </a:p>
          <a:p>
            <a:pPr algn="l">
              <a:lnSpc>
                <a:spcPct val="105000"/>
              </a:lnSpc>
            </a:pPr>
            <a:r>
              <a:rPr sz="1500" i="1">
                <a:solidFill>
                  <a:srgbClr val="6A737D"/>
                </a:solidFill>
                <a:latin typeface="Consolas"/>
              </a:rPr>
              <a:t># LO = quotient, HI = remainder.</a:t>
            </a:r>
          </a:p>
          <a:p>
            <a:pPr algn="l">
              <a:lnSpc>
                <a:spcPct val="105000"/>
              </a:lnSpc>
            </a:pPr>
            <a:endParaRPr sz="1500" i="1">
              <a:solidFill>
                <a:srgbClr val="6A737D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div  $t0, $t1</a:t>
            </a: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mflo $t2          </a:t>
            </a:r>
            <a:r>
              <a:rPr sz="1500" i="1">
                <a:solidFill>
                  <a:srgbClr val="6A737D"/>
                </a:solidFill>
                <a:latin typeface="Consolas"/>
              </a:rPr>
              <a:t># quotient  = 3</a:t>
            </a: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mfhi $t3          </a:t>
            </a:r>
            <a:r>
              <a:rPr sz="1500" i="1">
                <a:solidFill>
                  <a:srgbClr val="6A737D"/>
                </a:solidFill>
                <a:latin typeface="Consolas"/>
              </a:rPr>
              <a:t># remainder =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37760"/>
            <a:ext cx="11247120" cy="54864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When you need BOTH quotient and remainder, the real instruction is the only choice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577840"/>
            <a:ext cx="11247120" cy="54864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Mnemonic: mfLO -&gt; quotient (Lower)   mfHI -&gt; remainder (Higher leftover)</a:t>
            </a:r>
          </a:p>
        </p:txBody>
      </p:sp>
      <p:sp>
        <p:nvSpPr>
          <p:cNvPr id="11" name="topic_label"/>
          <p:cNvSpPr txBox="1"/>
          <p:nvPr/>
        </p:nvSpPr>
        <p:spPr>
          <a:xfrm>
            <a:off x="274320" y="292608"/>
            <a:ext cx="64008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Lessons 13 &amp; 14  -  Division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ctr"/>
          <a:lstStyle/>
          <a:p>
            <a:pPr algn="l"/>
            <a:r>
              <a:rPr sz="3200" b="1">
                <a:solidFill>
                  <a:srgbClr val="1E3A5F"/>
                </a:solidFill>
                <a:latin typeface="Arial"/>
              </a:rPr>
              <a:t>Why HI and LO?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/>
            <a:r>
              <a:rPr sz="1400" i="1">
                <a:solidFill>
                  <a:srgbClr val="6B7280"/>
                </a:solidFill>
                <a:latin typeface="Arial"/>
              </a:rPr>
              <a:t>Two special 32-bit registers that hold mult / div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4971" y="868680"/>
            <a:ext cx="11277295" cy="4937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109728" bIns="54864" rtlCol="0" anchor="ctr"/>
          <a:lstStyle/>
          <a:p>
            <a:pPr algn="l">
              <a:lnSpc>
                <a:spcPct val="145000"/>
              </a:lnSpc>
            </a:pPr>
            <a:r>
              <a:rPr sz="1700" b="1" dirty="0">
                <a:solidFill>
                  <a:srgbClr val="ED7D31"/>
                </a:solidFill>
                <a:latin typeface="Arial"/>
              </a:rPr>
              <a:t>▸ </a:t>
            </a:r>
            <a:r>
              <a:rPr sz="1700" b="1" dirty="0">
                <a:solidFill>
                  <a:srgbClr val="1E3A5F"/>
                </a:solidFill>
                <a:latin typeface="Arial"/>
              </a:rPr>
              <a:t>Outside the 32 GP registers</a:t>
            </a:r>
            <a:r>
              <a:rPr sz="1700" dirty="0">
                <a:solidFill>
                  <a:srgbClr val="212121"/>
                </a:solidFill>
                <a:latin typeface="Arial"/>
              </a:rPr>
              <a:t>  -  you cannot use them as direct operands</a:t>
            </a:r>
          </a:p>
          <a:p>
            <a:pPr algn="l">
              <a:lnSpc>
                <a:spcPct val="145000"/>
              </a:lnSpc>
            </a:pPr>
            <a:r>
              <a:rPr sz="1700" b="1" dirty="0">
                <a:solidFill>
                  <a:srgbClr val="ED7D31"/>
                </a:solidFill>
                <a:latin typeface="Arial"/>
              </a:rPr>
              <a:t>▸ </a:t>
            </a:r>
            <a:r>
              <a:rPr sz="1700" b="1" dirty="0" err="1">
                <a:solidFill>
                  <a:srgbClr val="1E3A5F"/>
                </a:solidFill>
                <a:latin typeface="Arial"/>
              </a:rPr>
              <a:t>mult</a:t>
            </a:r>
            <a:r>
              <a:rPr sz="1700" b="1" dirty="0">
                <a:solidFill>
                  <a:srgbClr val="1E3A5F"/>
                </a:solidFill>
                <a:latin typeface="Arial"/>
              </a:rPr>
              <a:t> writes both</a:t>
            </a:r>
            <a:r>
              <a:rPr sz="1700" dirty="0">
                <a:solidFill>
                  <a:srgbClr val="212121"/>
                </a:solidFill>
                <a:latin typeface="Arial"/>
              </a:rPr>
              <a:t>  -  HI = upper 32 bits, LO = lower 32 bits of a 64-bit product</a:t>
            </a:r>
          </a:p>
          <a:p>
            <a:pPr algn="l">
              <a:lnSpc>
                <a:spcPct val="145000"/>
              </a:lnSpc>
            </a:pPr>
            <a:r>
              <a:rPr sz="1700" b="1" dirty="0">
                <a:solidFill>
                  <a:srgbClr val="ED7D31"/>
                </a:solidFill>
                <a:latin typeface="Arial"/>
              </a:rPr>
              <a:t>▸ </a:t>
            </a:r>
            <a:r>
              <a:rPr sz="1700" b="1" dirty="0">
                <a:solidFill>
                  <a:srgbClr val="1E3A5F"/>
                </a:solidFill>
                <a:latin typeface="Arial"/>
              </a:rPr>
              <a:t>div writes both</a:t>
            </a:r>
            <a:r>
              <a:rPr sz="1700" dirty="0">
                <a:solidFill>
                  <a:srgbClr val="212121"/>
                </a:solidFill>
                <a:latin typeface="Arial"/>
              </a:rPr>
              <a:t>  -  HI = remainder, LO = quotient</a:t>
            </a:r>
          </a:p>
          <a:p>
            <a:pPr algn="l">
              <a:lnSpc>
                <a:spcPct val="145000"/>
              </a:lnSpc>
            </a:pPr>
            <a:r>
              <a:rPr sz="1700" b="1" dirty="0">
                <a:solidFill>
                  <a:srgbClr val="ED7D31"/>
                </a:solidFill>
                <a:latin typeface="Arial"/>
              </a:rPr>
              <a:t>▸ </a:t>
            </a:r>
            <a:r>
              <a:rPr sz="1700" b="1" dirty="0">
                <a:solidFill>
                  <a:srgbClr val="1E3A5F"/>
                </a:solidFill>
                <a:latin typeface="Arial"/>
              </a:rPr>
              <a:t>Read with </a:t>
            </a:r>
            <a:r>
              <a:rPr sz="1700" b="1" dirty="0" err="1">
                <a:solidFill>
                  <a:srgbClr val="1E3A5F"/>
                </a:solidFill>
                <a:latin typeface="Arial"/>
              </a:rPr>
              <a:t>mfhi</a:t>
            </a:r>
            <a:r>
              <a:rPr sz="1700" b="1" dirty="0">
                <a:solidFill>
                  <a:srgbClr val="1E3A5F"/>
                </a:solidFill>
                <a:latin typeface="Arial"/>
              </a:rPr>
              <a:t> / </a:t>
            </a:r>
            <a:r>
              <a:rPr sz="1700" b="1" dirty="0" err="1">
                <a:solidFill>
                  <a:srgbClr val="1E3A5F"/>
                </a:solidFill>
                <a:latin typeface="Arial"/>
              </a:rPr>
              <a:t>mflo</a:t>
            </a:r>
            <a:r>
              <a:rPr sz="1700" dirty="0">
                <a:solidFill>
                  <a:srgbClr val="212121"/>
                </a:solidFill>
                <a:latin typeface="Arial"/>
              </a:rPr>
              <a:t>  -  'move from HI / LO' into a normal register</a:t>
            </a:r>
          </a:p>
          <a:p>
            <a:pPr algn="l">
              <a:lnSpc>
                <a:spcPct val="145000"/>
              </a:lnSpc>
            </a:pPr>
            <a:r>
              <a:rPr sz="1700" b="1" dirty="0">
                <a:solidFill>
                  <a:srgbClr val="ED7D31"/>
                </a:solidFill>
                <a:latin typeface="Arial"/>
              </a:rPr>
              <a:t>▸ </a:t>
            </a:r>
            <a:r>
              <a:rPr sz="1700" b="1" dirty="0">
                <a:solidFill>
                  <a:srgbClr val="1E3A5F"/>
                </a:solidFill>
                <a:latin typeface="Arial"/>
              </a:rPr>
              <a:t>Why a separate file?</a:t>
            </a:r>
            <a:r>
              <a:rPr sz="1700" dirty="0">
                <a:solidFill>
                  <a:srgbClr val="212121"/>
                </a:solidFill>
                <a:latin typeface="Arial"/>
              </a:rPr>
              <a:t>  -  they're wide enough for the 64-bit result without changing the ISA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943600"/>
            <a:ext cx="11247120" cy="54864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Forgetting mflo / mfhi is the #1 reason 'my multiply does nothing'</a:t>
            </a:r>
          </a:p>
        </p:txBody>
      </p:sp>
      <p:sp>
        <p:nvSpPr>
          <p:cNvPr id="7" name="topic_label"/>
          <p:cNvSpPr txBox="1"/>
          <p:nvPr/>
        </p:nvSpPr>
        <p:spPr>
          <a:xfrm>
            <a:off x="274320" y="292608"/>
            <a:ext cx="64008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HI and LO Registers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ctr"/>
          <a:lstStyle/>
          <a:p>
            <a:pPr algn="l"/>
            <a:r>
              <a:rPr sz="3200" b="1">
                <a:solidFill>
                  <a:srgbClr val="1E3A5F"/>
                </a:solidFill>
                <a:latin typeface="Arial"/>
              </a:rPr>
              <a:t>Lesson 15 - Functions with jal / jr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/>
            <a:r>
              <a:rPr sz="1400" i="1">
                <a:solidFill>
                  <a:srgbClr val="6B7280"/>
                </a:solidFill>
                <a:latin typeface="Arial"/>
              </a:rPr>
              <a:t>Two instructions are all you need to call and return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6858000" cy="420624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6350">
            <a:solidFill>
              <a:srgbClr val="5C7A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09728" bIns="109728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9C27B0"/>
                </a:solidFill>
                <a:latin typeface="Consolas"/>
              </a:rPr>
              <a:t>.data</a:t>
            </a:r>
          </a:p>
          <a:p>
            <a:pPr algn="l">
              <a:lnSpc>
                <a:spcPct val="105000"/>
              </a:lnSpc>
            </a:pPr>
            <a:r>
              <a:rPr sz="1400">
                <a:solidFill>
                  <a:srgbClr val="141B29"/>
                </a:solidFill>
                <a:latin typeface="Consolas"/>
              </a:rPr>
              <a:t>    msg: .asciiz "Hello from a function!"</a:t>
            </a:r>
          </a:p>
          <a:p>
            <a:pPr algn="l">
              <a:lnSpc>
                <a:spcPct val="105000"/>
              </a:lnSpc>
            </a:pPr>
            <a:endParaRPr sz="1400">
              <a:solidFill>
                <a:srgbClr val="141B2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400" b="1">
                <a:solidFill>
                  <a:srgbClr val="9C27B0"/>
                </a:solidFill>
                <a:latin typeface="Consolas"/>
              </a:rPr>
              <a:t>.text</a:t>
            </a:r>
          </a:p>
          <a:p>
            <a:pPr algn="l">
              <a:lnSpc>
                <a:spcPct val="105000"/>
              </a:lnSpc>
            </a:pPr>
            <a:r>
              <a:rPr sz="1400" b="1">
                <a:solidFill>
                  <a:srgbClr val="1E3A5F"/>
                </a:solidFill>
                <a:latin typeface="Consolas"/>
              </a:rPr>
              <a:t>main:</a:t>
            </a:r>
          </a:p>
          <a:p>
            <a:pPr algn="l">
              <a:lnSpc>
                <a:spcPct val="105000"/>
              </a:lnSpc>
            </a:pPr>
            <a:r>
              <a:rPr sz="1400">
                <a:solidFill>
                  <a:srgbClr val="141B29"/>
                </a:solidFill>
                <a:latin typeface="Consolas"/>
              </a:rPr>
              <a:t>    jal  greet               </a:t>
            </a:r>
            <a:r>
              <a:rPr sz="1400" i="1">
                <a:solidFill>
                  <a:srgbClr val="6A737D"/>
                </a:solidFill>
                <a:latin typeface="Consolas"/>
              </a:rPr>
              <a:t># call greet(); $ra &lt;- ret addr</a:t>
            </a:r>
          </a:p>
          <a:p>
            <a:pPr algn="l">
              <a:lnSpc>
                <a:spcPct val="105000"/>
              </a:lnSpc>
            </a:pPr>
            <a:endParaRPr sz="1400" i="1">
              <a:solidFill>
                <a:srgbClr val="6A737D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400">
                <a:solidFill>
                  <a:srgbClr val="141B29"/>
                </a:solidFill>
                <a:latin typeface="Consolas"/>
              </a:rPr>
              <a:t>    li   $v0, 10             </a:t>
            </a:r>
            <a:r>
              <a:rPr sz="1400" i="1">
                <a:solidFill>
                  <a:srgbClr val="6A737D"/>
                </a:solidFill>
                <a:latin typeface="Consolas"/>
              </a:rPr>
              <a:t># exit when we come back</a:t>
            </a:r>
          </a:p>
          <a:p>
            <a:pPr algn="l">
              <a:lnSpc>
                <a:spcPct val="105000"/>
              </a:lnSpc>
            </a:pPr>
            <a:r>
              <a:rPr sz="1400">
                <a:solidFill>
                  <a:srgbClr val="141B29"/>
                </a:solidFill>
                <a:latin typeface="Consolas"/>
              </a:rPr>
              <a:t>    syscall</a:t>
            </a:r>
          </a:p>
          <a:p>
            <a:pPr algn="l">
              <a:lnSpc>
                <a:spcPct val="105000"/>
              </a:lnSpc>
            </a:pPr>
            <a:endParaRPr sz="1400">
              <a:solidFill>
                <a:srgbClr val="141B2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400" b="1">
                <a:solidFill>
                  <a:srgbClr val="1E3A5F"/>
                </a:solidFill>
                <a:latin typeface="Consolas"/>
              </a:rPr>
              <a:t>greet:</a:t>
            </a:r>
          </a:p>
          <a:p>
            <a:pPr algn="l">
              <a:lnSpc>
                <a:spcPct val="105000"/>
              </a:lnSpc>
            </a:pPr>
            <a:r>
              <a:rPr sz="1400">
                <a:solidFill>
                  <a:srgbClr val="141B29"/>
                </a:solidFill>
                <a:latin typeface="Consolas"/>
              </a:rPr>
              <a:t>    li   $v0, 4</a:t>
            </a:r>
          </a:p>
          <a:p>
            <a:pPr algn="l">
              <a:lnSpc>
                <a:spcPct val="105000"/>
              </a:lnSpc>
            </a:pPr>
            <a:r>
              <a:rPr sz="1400">
                <a:solidFill>
                  <a:srgbClr val="141B29"/>
                </a:solidFill>
                <a:latin typeface="Consolas"/>
              </a:rPr>
              <a:t>    la   $a0, msg</a:t>
            </a:r>
          </a:p>
          <a:p>
            <a:pPr algn="l">
              <a:lnSpc>
                <a:spcPct val="105000"/>
              </a:lnSpc>
            </a:pPr>
            <a:r>
              <a:rPr sz="1400">
                <a:solidFill>
                  <a:srgbClr val="141B29"/>
                </a:solidFill>
                <a:latin typeface="Consolas"/>
              </a:rPr>
              <a:t>    syscall</a:t>
            </a:r>
          </a:p>
          <a:p>
            <a:pPr algn="l">
              <a:lnSpc>
                <a:spcPct val="105000"/>
              </a:lnSpc>
            </a:pPr>
            <a:r>
              <a:rPr sz="1400">
                <a:solidFill>
                  <a:srgbClr val="141B29"/>
                </a:solidFill>
                <a:latin typeface="Consolas"/>
              </a:rPr>
              <a:t>    jr   $ra                 </a:t>
            </a:r>
            <a:r>
              <a:rPr sz="1400" i="1">
                <a:solidFill>
                  <a:srgbClr val="6A737D"/>
                </a:solidFill>
                <a:latin typeface="Consolas"/>
              </a:rPr>
              <a:t># return to caller (main)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691640"/>
            <a:ext cx="4114800" cy="4206240"/>
          </a:xfrm>
          <a:prstGeom prst="roundRect">
            <a:avLst>
              <a:gd name="adj" fmla="val 3000"/>
            </a:avLst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0" y="1828800"/>
            <a:ext cx="37490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5F"/>
                </a:solidFill>
                <a:latin typeface="Arial"/>
              </a:rPr>
              <a:t>Mental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194560"/>
            <a:ext cx="3749040" cy="3657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12121"/>
                </a:solidFill>
                <a:latin typeface="Arial"/>
              </a:rPr>
              <a:t>jal LABEL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12121"/>
                </a:solidFill>
                <a:latin typeface="Arial"/>
              </a:rPr>
              <a:t>  -  jump to LABEL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12121"/>
                </a:solidFill>
                <a:latin typeface="Arial"/>
              </a:rPr>
              <a:t>  -  AND copy the address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12121"/>
                </a:solidFill>
                <a:latin typeface="Arial"/>
              </a:rPr>
              <a:t>       of the next instruction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12121"/>
                </a:solidFill>
                <a:latin typeface="Arial"/>
              </a:rPr>
              <a:t>       into $ra</a:t>
            </a:r>
          </a:p>
          <a:p>
            <a:pPr algn="l">
              <a:lnSpc>
                <a:spcPct val="120000"/>
              </a:lnSpc>
            </a:pPr>
            <a:endParaRPr sz="1300" b="0" i="0">
              <a:solidFill>
                <a:srgbClr val="212121"/>
              </a:solidFill>
              <a:latin typeface="Arial"/>
            </a:endParaRP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12121"/>
                </a:solidFill>
                <a:latin typeface="Arial"/>
              </a:rPr>
              <a:t>jr $ra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12121"/>
                </a:solidFill>
                <a:latin typeface="Arial"/>
              </a:rPr>
              <a:t>  -  jump to whatever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12121"/>
                </a:solidFill>
                <a:latin typeface="Arial"/>
              </a:rPr>
              <a:t>       address $ra holds</a:t>
            </a:r>
          </a:p>
          <a:p>
            <a:pPr algn="l">
              <a:lnSpc>
                <a:spcPct val="120000"/>
              </a:lnSpc>
            </a:pPr>
            <a:endParaRPr sz="1300" b="0" i="0">
              <a:solidFill>
                <a:srgbClr val="212121"/>
              </a:solidFill>
              <a:latin typeface="Arial"/>
            </a:endParaRP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12121"/>
                </a:solidFill>
                <a:latin typeface="Arial"/>
              </a:rPr>
              <a:t>Together: function call.</a:t>
            </a:r>
          </a:p>
        </p:txBody>
      </p:sp>
      <p:sp>
        <p:nvSpPr>
          <p:cNvPr id="9" name="topic_label"/>
          <p:cNvSpPr txBox="1"/>
          <p:nvPr/>
        </p:nvSpPr>
        <p:spPr>
          <a:xfrm>
            <a:off x="274320" y="292608"/>
            <a:ext cx="64008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Lesson 15  -  Functions with jal / jr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ctr"/>
          <a:lstStyle/>
          <a:p>
            <a:pPr algn="l"/>
            <a:r>
              <a:rPr sz="3200" b="1">
                <a:solidFill>
                  <a:srgbClr val="1E3A5F"/>
                </a:solidFill>
                <a:latin typeface="Arial"/>
              </a:rPr>
              <a:t>Lesson 16 - Arguments and Return Values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/>
            <a:r>
              <a:rPr sz="1400" i="1">
                <a:solidFill>
                  <a:srgbClr val="6B7280"/>
                </a:solidFill>
                <a:latin typeface="Arial"/>
              </a:rPr>
              <a:t>MIPS calling convention: $a0-$a3 in, $v0-$v1 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6858000" cy="45720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6350">
            <a:solidFill>
              <a:srgbClr val="5C7A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09728" bIns="109728" rtlCol="0" anchor="ctr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9C27B0"/>
                </a:solidFill>
                <a:latin typeface="Consolas"/>
              </a:rPr>
              <a:t>.text</a:t>
            </a:r>
          </a:p>
          <a:p>
            <a:pPr algn="l">
              <a:lnSpc>
                <a:spcPct val="105000"/>
              </a:lnSpc>
            </a:pPr>
            <a:r>
              <a:rPr sz="1400" b="1">
                <a:solidFill>
                  <a:srgbClr val="1E3A5F"/>
                </a:solidFill>
                <a:latin typeface="Consolas"/>
              </a:rPr>
              <a:t>main:</a:t>
            </a:r>
          </a:p>
          <a:p>
            <a:pPr algn="l">
              <a:lnSpc>
                <a:spcPct val="105000"/>
              </a:lnSpc>
            </a:pPr>
            <a:r>
              <a:rPr sz="1400">
                <a:solidFill>
                  <a:srgbClr val="141B29"/>
                </a:solidFill>
                <a:latin typeface="Consolas"/>
              </a:rPr>
              <a:t>    li   $a0, 5              </a:t>
            </a:r>
            <a:r>
              <a:rPr sz="1400" i="1">
                <a:solidFill>
                  <a:srgbClr val="6A737D"/>
                </a:solidFill>
                <a:latin typeface="Consolas"/>
              </a:rPr>
              <a:t># 1st argument</a:t>
            </a:r>
          </a:p>
          <a:p>
            <a:pPr algn="l">
              <a:lnSpc>
                <a:spcPct val="105000"/>
              </a:lnSpc>
            </a:pPr>
            <a:r>
              <a:rPr sz="1400">
                <a:solidFill>
                  <a:srgbClr val="141B29"/>
                </a:solidFill>
                <a:latin typeface="Consolas"/>
              </a:rPr>
              <a:t>    li   $a1, 7              </a:t>
            </a:r>
            <a:r>
              <a:rPr sz="1400" i="1">
                <a:solidFill>
                  <a:srgbClr val="6A737D"/>
                </a:solidFill>
                <a:latin typeface="Consolas"/>
              </a:rPr>
              <a:t># 2nd argument</a:t>
            </a:r>
          </a:p>
          <a:p>
            <a:pPr algn="l">
              <a:lnSpc>
                <a:spcPct val="105000"/>
              </a:lnSpc>
            </a:pPr>
            <a:r>
              <a:rPr sz="1400">
                <a:solidFill>
                  <a:srgbClr val="141B29"/>
                </a:solidFill>
                <a:latin typeface="Consolas"/>
              </a:rPr>
              <a:t>    jal  addTwo              </a:t>
            </a:r>
            <a:r>
              <a:rPr sz="1400" i="1">
                <a:solidFill>
                  <a:srgbClr val="6A737D"/>
                </a:solidFill>
                <a:latin typeface="Consolas"/>
              </a:rPr>
              <a:t># result lands in $v0</a:t>
            </a:r>
          </a:p>
          <a:p>
            <a:pPr algn="l">
              <a:lnSpc>
                <a:spcPct val="105000"/>
              </a:lnSpc>
            </a:pPr>
            <a:endParaRPr sz="1400" i="1">
              <a:solidFill>
                <a:srgbClr val="6A737D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400">
                <a:solidFill>
                  <a:srgbClr val="141B29"/>
                </a:solidFill>
                <a:latin typeface="Consolas"/>
              </a:rPr>
              <a:t>    move $a0, $v0            </a:t>
            </a:r>
            <a:r>
              <a:rPr sz="1400" i="1">
                <a:solidFill>
                  <a:srgbClr val="6A737D"/>
                </a:solidFill>
                <a:latin typeface="Consolas"/>
              </a:rPr>
              <a:t># forward to print syscall</a:t>
            </a:r>
          </a:p>
          <a:p>
            <a:pPr algn="l">
              <a:lnSpc>
                <a:spcPct val="105000"/>
              </a:lnSpc>
            </a:pPr>
            <a:r>
              <a:rPr sz="1400">
                <a:solidFill>
                  <a:srgbClr val="141B29"/>
                </a:solidFill>
                <a:latin typeface="Consolas"/>
              </a:rPr>
              <a:t>    li   $v0, 1</a:t>
            </a:r>
          </a:p>
          <a:p>
            <a:pPr algn="l">
              <a:lnSpc>
                <a:spcPct val="105000"/>
              </a:lnSpc>
            </a:pPr>
            <a:r>
              <a:rPr sz="1400">
                <a:solidFill>
                  <a:srgbClr val="141B29"/>
                </a:solidFill>
                <a:latin typeface="Consolas"/>
              </a:rPr>
              <a:t>    syscall</a:t>
            </a:r>
          </a:p>
          <a:p>
            <a:pPr algn="l">
              <a:lnSpc>
                <a:spcPct val="105000"/>
              </a:lnSpc>
            </a:pPr>
            <a:endParaRPr sz="1400">
              <a:solidFill>
                <a:srgbClr val="141B2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400">
                <a:solidFill>
                  <a:srgbClr val="141B29"/>
                </a:solidFill>
                <a:latin typeface="Consolas"/>
              </a:rPr>
              <a:t>    li   $v0, 10</a:t>
            </a:r>
          </a:p>
          <a:p>
            <a:pPr algn="l">
              <a:lnSpc>
                <a:spcPct val="105000"/>
              </a:lnSpc>
            </a:pPr>
            <a:r>
              <a:rPr sz="1400">
                <a:solidFill>
                  <a:srgbClr val="141B29"/>
                </a:solidFill>
                <a:latin typeface="Consolas"/>
              </a:rPr>
              <a:t>    syscall</a:t>
            </a:r>
          </a:p>
          <a:p>
            <a:pPr algn="l">
              <a:lnSpc>
                <a:spcPct val="105000"/>
              </a:lnSpc>
            </a:pPr>
            <a:endParaRPr sz="1400">
              <a:solidFill>
                <a:srgbClr val="141B2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400" b="1">
                <a:solidFill>
                  <a:srgbClr val="1E3A5F"/>
                </a:solidFill>
                <a:latin typeface="Consolas"/>
              </a:rPr>
              <a:t>addTwo:</a:t>
            </a:r>
          </a:p>
          <a:p>
            <a:pPr algn="l">
              <a:lnSpc>
                <a:spcPct val="105000"/>
              </a:lnSpc>
            </a:pPr>
            <a:r>
              <a:rPr sz="1400">
                <a:solidFill>
                  <a:srgbClr val="141B29"/>
                </a:solidFill>
                <a:latin typeface="Consolas"/>
              </a:rPr>
              <a:t>    add  $v0, $a0, $a1       </a:t>
            </a:r>
            <a:r>
              <a:rPr sz="1400" i="1">
                <a:solidFill>
                  <a:srgbClr val="6A737D"/>
                </a:solidFill>
                <a:latin typeface="Consolas"/>
              </a:rPr>
              <a:t># $v0 = $a0 + $a1</a:t>
            </a:r>
          </a:p>
          <a:p>
            <a:pPr algn="l">
              <a:lnSpc>
                <a:spcPct val="105000"/>
              </a:lnSpc>
            </a:pPr>
            <a:r>
              <a:rPr sz="1400">
                <a:solidFill>
                  <a:srgbClr val="141B29"/>
                </a:solidFill>
                <a:latin typeface="Consolas"/>
              </a:rPr>
              <a:t>    jr   $ra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691640"/>
            <a:ext cx="4114800" cy="4572000"/>
          </a:xfrm>
          <a:prstGeom prst="roundRect">
            <a:avLst>
              <a:gd name="adj" fmla="val 3000"/>
            </a:avLst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0" y="1828800"/>
            <a:ext cx="37490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5F"/>
                </a:solidFill>
                <a:latin typeface="Arial"/>
              </a:rPr>
              <a:t>Convention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194560"/>
            <a:ext cx="3749040" cy="4023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12121"/>
                </a:solidFill>
                <a:latin typeface="Arial"/>
              </a:rPr>
              <a:t>Caller side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12121"/>
                </a:solidFill>
                <a:latin typeface="Arial"/>
              </a:rPr>
              <a:t>  -  put args in $a0, $a1, ...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12121"/>
                </a:solidFill>
                <a:latin typeface="Arial"/>
              </a:rPr>
              <a:t>  -  jal target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12121"/>
                </a:solidFill>
                <a:latin typeface="Arial"/>
              </a:rPr>
              <a:t>  -  read result from $v0</a:t>
            </a:r>
          </a:p>
          <a:p>
            <a:pPr algn="l">
              <a:lnSpc>
                <a:spcPct val="120000"/>
              </a:lnSpc>
            </a:pPr>
            <a:endParaRPr sz="1300" b="0" i="0">
              <a:solidFill>
                <a:srgbClr val="212121"/>
              </a:solidFill>
              <a:latin typeface="Arial"/>
            </a:endParaRP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12121"/>
                </a:solidFill>
                <a:latin typeface="Arial"/>
              </a:rPr>
              <a:t>Callee side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12121"/>
                </a:solidFill>
                <a:latin typeface="Arial"/>
              </a:rPr>
              <a:t>  -  use $a0..$a3 as inputs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12121"/>
                </a:solidFill>
                <a:latin typeface="Arial"/>
              </a:rPr>
              <a:t>  -  put result in $v0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12121"/>
                </a:solidFill>
                <a:latin typeface="Arial"/>
              </a:rPr>
              <a:t>  -  jr $ra to return</a:t>
            </a:r>
          </a:p>
        </p:txBody>
      </p:sp>
      <p:sp>
        <p:nvSpPr>
          <p:cNvPr id="9" name="topic_label"/>
          <p:cNvSpPr txBox="1"/>
          <p:nvPr/>
        </p:nvSpPr>
        <p:spPr>
          <a:xfrm>
            <a:off x="274320" y="292608"/>
            <a:ext cx="64008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Lesson 16  -  Arguments and Return Values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ctr"/>
          <a:lstStyle/>
          <a:p>
            <a:pPr algn="l"/>
            <a:r>
              <a:rPr sz="3200" b="1">
                <a:solidFill>
                  <a:srgbClr val="1E3A5F"/>
                </a:solidFill>
                <a:latin typeface="Arial"/>
              </a:rPr>
              <a:t>The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/>
            <a:r>
              <a:rPr sz="1400" i="1">
                <a:solidFill>
                  <a:srgbClr val="6B7280"/>
                </a:solidFill>
                <a:latin typeface="Arial"/>
              </a:rPr>
              <a:t>A LIFO scratch space, addressed through $sp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11277295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109728" bIns="54864" rtlCol="0" anchor="ctr"/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rgbClr val="ED7D31"/>
                </a:solidFill>
                <a:latin typeface="Arial"/>
              </a:rPr>
              <a:t>▸ </a:t>
            </a:r>
            <a:r>
              <a:rPr sz="1700" b="1">
                <a:solidFill>
                  <a:srgbClr val="1E3A5F"/>
                </a:solidFill>
                <a:latin typeface="Arial"/>
              </a:rPr>
              <a:t>$sp = stack pointer</a:t>
            </a:r>
            <a:r>
              <a:rPr sz="1700">
                <a:solidFill>
                  <a:srgbClr val="212121"/>
                </a:solidFill>
                <a:latin typeface="Arial"/>
              </a:rPr>
              <a:t>  -  always points to the lowest used byte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ED7D31"/>
                </a:solidFill>
                <a:latin typeface="Arial"/>
              </a:rPr>
              <a:t>▸ </a:t>
            </a:r>
            <a:r>
              <a:rPr sz="1700" b="1">
                <a:solidFill>
                  <a:srgbClr val="1E3A5F"/>
                </a:solidFill>
                <a:latin typeface="Arial"/>
              </a:rPr>
              <a:t>Stack grows DOWNWARD</a:t>
            </a:r>
            <a:r>
              <a:rPr sz="1700">
                <a:solidFill>
                  <a:srgbClr val="212121"/>
                </a:solidFill>
                <a:latin typeface="Arial"/>
              </a:rPr>
              <a:t>  -  to push, SUBTRACT from $sp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ED7D31"/>
                </a:solidFill>
                <a:latin typeface="Arial"/>
              </a:rPr>
              <a:t>▸ </a:t>
            </a:r>
            <a:r>
              <a:rPr sz="1700" b="1">
                <a:solidFill>
                  <a:srgbClr val="1E3A5F"/>
                </a:solidFill>
                <a:latin typeface="Arial"/>
              </a:rPr>
              <a:t>To pop, ADD back to $sp</a:t>
            </a:r>
            <a:r>
              <a:rPr sz="1700">
                <a:solidFill>
                  <a:srgbClr val="212121"/>
                </a:solidFill>
                <a:latin typeface="Arial"/>
              </a:rPr>
              <a:t>  -  after reading the value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ED7D31"/>
                </a:solidFill>
                <a:latin typeface="Arial"/>
              </a:rPr>
              <a:t>▸ </a:t>
            </a:r>
            <a:r>
              <a:rPr sz="1700" b="1">
                <a:solidFill>
                  <a:srgbClr val="1E3A5F"/>
                </a:solidFill>
                <a:latin typeface="Arial"/>
              </a:rPr>
              <a:t>Each slot is 4 bytes</a:t>
            </a:r>
            <a:r>
              <a:rPr sz="1700">
                <a:solidFill>
                  <a:srgbClr val="212121"/>
                </a:solidFill>
                <a:latin typeface="Arial"/>
              </a:rPr>
              <a:t>  -  for word-aligned data; align to 8 for doubles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828800"/>
            <a:ext cx="3108960" cy="502920"/>
          </a:xfrm>
          <a:prstGeom prst="rect">
            <a:avLst/>
          </a:prstGeom>
          <a:solidFill>
            <a:srgbClr val="E8EEF4"/>
          </a:solidFill>
          <a:ln w="6350">
            <a:solidFill>
              <a:srgbClr val="5C7A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6B7280"/>
                </a:solidFill>
                <a:latin typeface="Arial"/>
              </a:rPr>
              <a:t>(higher addresses)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2331720"/>
            <a:ext cx="3108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5C7A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212121"/>
                </a:solidFill>
                <a:latin typeface="Arial"/>
              </a:rPr>
              <a:t>caller's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834640"/>
            <a:ext cx="3108960" cy="502920"/>
          </a:xfrm>
          <a:prstGeom prst="rect">
            <a:avLst/>
          </a:prstGeom>
          <a:solidFill>
            <a:srgbClr val="5C7A95"/>
          </a:solidFill>
          <a:ln w="6350">
            <a:solidFill>
              <a:srgbClr val="5C7A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$ra (saved)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3337560"/>
            <a:ext cx="3108960" cy="502920"/>
          </a:xfrm>
          <a:prstGeom prst="rect">
            <a:avLst/>
          </a:prstGeom>
          <a:solidFill>
            <a:srgbClr val="5C7A95"/>
          </a:solidFill>
          <a:ln w="6350">
            <a:solidFill>
              <a:srgbClr val="5C7A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$a0 (saved)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3840480"/>
            <a:ext cx="3108960" cy="502920"/>
          </a:xfrm>
          <a:prstGeom prst="rect">
            <a:avLst/>
          </a:prstGeom>
          <a:solidFill>
            <a:srgbClr val="ED7D31"/>
          </a:solidFill>
          <a:ln w="6350">
            <a:solidFill>
              <a:srgbClr val="5C7A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&lt;- $sp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4343400"/>
            <a:ext cx="3108960" cy="502920"/>
          </a:xfrm>
          <a:prstGeom prst="rect">
            <a:avLst/>
          </a:prstGeom>
          <a:solidFill>
            <a:srgbClr val="E8EEF4"/>
          </a:solidFill>
          <a:ln w="6350">
            <a:solidFill>
              <a:srgbClr val="5C7A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6B7280"/>
                </a:solidFill>
                <a:latin typeface="Arial"/>
              </a:rPr>
              <a:t>(lower addresses,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4846320"/>
            <a:ext cx="3108960" cy="502920"/>
          </a:xfrm>
          <a:prstGeom prst="rect">
            <a:avLst/>
          </a:prstGeom>
          <a:solidFill>
            <a:srgbClr val="E8EEF4"/>
          </a:solidFill>
          <a:ln w="6350">
            <a:solidFill>
              <a:srgbClr val="5C7A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6B7280"/>
                </a:solidFill>
                <a:latin typeface="Arial"/>
              </a:rPr>
              <a:t>stack grows here)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72000"/>
            <a:ext cx="7159752" cy="128016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Push:  addi $sp, $sp, -4   ;   sw $reg, 0($sp)
Pop :  lw   $reg, 0($sp)   ;   addi $sp, $sp, 4</a:t>
            </a:r>
          </a:p>
        </p:txBody>
      </p:sp>
      <p:sp>
        <p:nvSpPr>
          <p:cNvPr id="14" name="topic_label"/>
          <p:cNvSpPr txBox="1"/>
          <p:nvPr/>
        </p:nvSpPr>
        <p:spPr>
          <a:xfrm>
            <a:off x="274320" y="292608"/>
            <a:ext cx="64008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The Stack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ctr"/>
          <a:lstStyle/>
          <a:p>
            <a:pPr algn="l"/>
            <a:r>
              <a:rPr sz="3200" b="1">
                <a:solidFill>
                  <a:srgbClr val="1E3A5F"/>
                </a:solidFill>
                <a:latin typeface="Arial"/>
              </a:rPr>
              <a:t>Lesson 17 - Saving Registers to the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/>
            <a:r>
              <a:rPr sz="1400" i="1">
                <a:solidFill>
                  <a:srgbClr val="6B7280"/>
                </a:solidFill>
                <a:latin typeface="Arial"/>
              </a:rPr>
              <a:t>$s0-$s7 are callee-saved: a function MUST preserve them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11277295" cy="310896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6350">
            <a:solidFill>
              <a:srgbClr val="5C7A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09728" bIns="109728" rtlCol="0" anchor="ctr"/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3A5F"/>
                </a:solidFill>
                <a:latin typeface="Consolas"/>
              </a:rPr>
              <a:t>clobber:</a:t>
            </a: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    addi $sp, $sp, -4        </a:t>
            </a:r>
            <a:r>
              <a:rPr sz="1500" i="1">
                <a:solidFill>
                  <a:srgbClr val="6A737D"/>
                </a:solidFill>
                <a:latin typeface="Consolas"/>
              </a:rPr>
              <a:t># allocate 4 bytes (PUSH)</a:t>
            </a: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    sw   $s0, 0($sp)         </a:t>
            </a:r>
            <a:r>
              <a:rPr sz="1500" i="1">
                <a:solidFill>
                  <a:srgbClr val="6A737D"/>
                </a:solidFill>
                <a:latin typeface="Consolas"/>
              </a:rPr>
              <a:t># save caller's $s0</a:t>
            </a:r>
          </a:p>
          <a:p>
            <a:pPr algn="l">
              <a:lnSpc>
                <a:spcPct val="105000"/>
              </a:lnSpc>
            </a:pPr>
            <a:endParaRPr sz="1500" i="1">
              <a:solidFill>
                <a:srgbClr val="6A737D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    li   $s0, 999            </a:t>
            </a:r>
            <a:r>
              <a:rPr sz="1500" i="1">
                <a:solidFill>
                  <a:srgbClr val="6A737D"/>
                </a:solidFill>
                <a:latin typeface="Consolas"/>
              </a:rPr>
              <a:t># callee uses $s0 freely</a:t>
            </a:r>
          </a:p>
          <a:p>
            <a:pPr algn="l">
              <a:lnSpc>
                <a:spcPct val="105000"/>
              </a:lnSpc>
            </a:pPr>
            <a:endParaRPr sz="1500" i="1">
              <a:solidFill>
                <a:srgbClr val="6A737D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    lw   $s0, 0($sp)         </a:t>
            </a:r>
            <a:r>
              <a:rPr sz="1500" i="1">
                <a:solidFill>
                  <a:srgbClr val="6A737D"/>
                </a:solidFill>
                <a:latin typeface="Consolas"/>
              </a:rPr>
              <a:t># restore caller's $s0 (POP)</a:t>
            </a: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    addi $sp, $sp, 4         </a:t>
            </a:r>
            <a:r>
              <a:rPr sz="1500" i="1">
                <a:solidFill>
                  <a:srgbClr val="6A737D"/>
                </a:solidFill>
                <a:latin typeface="Consolas"/>
              </a:rPr>
              <a:t># free the stack space</a:t>
            </a: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141B29"/>
                </a:solidFill>
                <a:latin typeface="Consolas"/>
              </a:rPr>
              <a:t>    jr   $ra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937760"/>
            <a:ext cx="11247120" cy="54864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If you forget to restore $s0, the CALLER will see 999 instead of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577840"/>
            <a:ext cx="11247120" cy="54864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$t0-$t9 are caller-saved -&gt; the caller must save them if they care after a call</a:t>
            </a:r>
          </a:p>
        </p:txBody>
      </p:sp>
      <p:sp>
        <p:nvSpPr>
          <p:cNvPr id="8" name="topic_label"/>
          <p:cNvSpPr txBox="1"/>
          <p:nvPr/>
        </p:nvSpPr>
        <p:spPr>
          <a:xfrm>
            <a:off x="274320" y="292608"/>
            <a:ext cx="64008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Lesson 17  -  Saving Registers to the Stack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ctr"/>
          <a:lstStyle/>
          <a:p>
            <a:pPr algn="l"/>
            <a:r>
              <a:rPr sz="3200" b="1">
                <a:solidFill>
                  <a:srgbClr val="1E3A5F"/>
                </a:solidFill>
                <a:latin typeface="Arial"/>
              </a:rPr>
              <a:t>Lesson 18 (Part 1) - Why Nested Calls Need the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/>
            <a:r>
              <a:rPr sz="1400" i="1">
                <a:solidFill>
                  <a:srgbClr val="6B7280"/>
                </a:solidFill>
                <a:latin typeface="Arial"/>
              </a:rPr>
              <a:t>The inner 'jal' overwrites $ra - so the OUTER caller MUST save it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11277295" cy="274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109728" bIns="54864" rtlCol="0" anchor="ctr"/>
          <a:lstStyle/>
          <a:p>
            <a:pPr algn="l">
              <a:lnSpc>
                <a:spcPct val="145000"/>
              </a:lnSpc>
            </a:pPr>
            <a:r>
              <a:rPr sz="1700" b="1" dirty="0">
                <a:solidFill>
                  <a:srgbClr val="ED7D31"/>
                </a:solidFill>
                <a:latin typeface="Arial"/>
              </a:rPr>
              <a:t>▸ </a:t>
            </a:r>
            <a:r>
              <a:rPr sz="1700" b="1" dirty="0">
                <a:solidFill>
                  <a:srgbClr val="1E3A5F"/>
                </a:solidFill>
                <a:latin typeface="Arial"/>
              </a:rPr>
              <a:t>Single call?</a:t>
            </a:r>
            <a:r>
              <a:rPr sz="1700" dirty="0">
                <a:solidFill>
                  <a:srgbClr val="212121"/>
                </a:solidFill>
                <a:latin typeface="Arial"/>
              </a:rPr>
              <a:t>  -  $</a:t>
            </a:r>
            <a:r>
              <a:rPr sz="1700" dirty="0" err="1">
                <a:solidFill>
                  <a:srgbClr val="212121"/>
                </a:solidFill>
                <a:latin typeface="Arial"/>
              </a:rPr>
              <a:t>ra</a:t>
            </a:r>
            <a:r>
              <a:rPr sz="1700" dirty="0">
                <a:solidFill>
                  <a:srgbClr val="212121"/>
                </a:solidFill>
                <a:latin typeface="Arial"/>
              </a:rPr>
              <a:t> survives - nothing else writes to it</a:t>
            </a:r>
          </a:p>
          <a:p>
            <a:pPr algn="l">
              <a:lnSpc>
                <a:spcPct val="145000"/>
              </a:lnSpc>
            </a:pPr>
            <a:r>
              <a:rPr sz="1700" b="1" dirty="0">
                <a:solidFill>
                  <a:srgbClr val="ED7D31"/>
                </a:solidFill>
                <a:latin typeface="Arial"/>
              </a:rPr>
              <a:t>▸ </a:t>
            </a:r>
            <a:r>
              <a:rPr sz="1700" b="1" dirty="0">
                <a:solidFill>
                  <a:srgbClr val="1E3A5F"/>
                </a:solidFill>
                <a:latin typeface="Arial"/>
              </a:rPr>
              <a:t>A function calls another?</a:t>
            </a:r>
            <a:r>
              <a:rPr sz="1700" dirty="0">
                <a:solidFill>
                  <a:srgbClr val="212121"/>
                </a:solidFill>
                <a:latin typeface="Arial"/>
              </a:rPr>
              <a:t>  -  the inner </a:t>
            </a:r>
            <a:r>
              <a:rPr sz="1700" dirty="0" err="1">
                <a:solidFill>
                  <a:srgbClr val="212121"/>
                </a:solidFill>
                <a:latin typeface="Arial"/>
              </a:rPr>
              <a:t>jal</a:t>
            </a:r>
            <a:r>
              <a:rPr sz="1700" dirty="0">
                <a:solidFill>
                  <a:srgbClr val="212121"/>
                </a:solidFill>
                <a:latin typeface="Arial"/>
              </a:rPr>
              <a:t> CLOBBERS $</a:t>
            </a:r>
            <a:r>
              <a:rPr sz="1700" dirty="0" err="1">
                <a:solidFill>
                  <a:srgbClr val="212121"/>
                </a:solidFill>
                <a:latin typeface="Arial"/>
              </a:rPr>
              <a:t>ra</a:t>
            </a:r>
            <a:endParaRPr sz="1700" dirty="0">
              <a:solidFill>
                <a:srgbClr val="212121"/>
              </a:solidFill>
              <a:latin typeface="Arial"/>
            </a:endParaRPr>
          </a:p>
          <a:p>
            <a:pPr algn="l">
              <a:lnSpc>
                <a:spcPct val="145000"/>
              </a:lnSpc>
            </a:pPr>
            <a:r>
              <a:rPr sz="1700" b="1" dirty="0">
                <a:solidFill>
                  <a:srgbClr val="ED7D31"/>
                </a:solidFill>
                <a:latin typeface="Arial"/>
              </a:rPr>
              <a:t>▸ </a:t>
            </a:r>
            <a:r>
              <a:rPr sz="1700" b="1" dirty="0">
                <a:solidFill>
                  <a:srgbClr val="1E3A5F"/>
                </a:solidFill>
                <a:latin typeface="Arial"/>
              </a:rPr>
              <a:t>Solution</a:t>
            </a:r>
            <a:r>
              <a:rPr sz="1700" dirty="0">
                <a:solidFill>
                  <a:srgbClr val="212121"/>
                </a:solidFill>
                <a:latin typeface="Arial"/>
              </a:rPr>
              <a:t>  -  outer function pushes $</a:t>
            </a:r>
            <a:r>
              <a:rPr sz="1700" dirty="0" err="1">
                <a:solidFill>
                  <a:srgbClr val="212121"/>
                </a:solidFill>
                <a:latin typeface="Arial"/>
              </a:rPr>
              <a:t>ra</a:t>
            </a:r>
            <a:r>
              <a:rPr sz="1700" dirty="0">
                <a:solidFill>
                  <a:srgbClr val="212121"/>
                </a:solidFill>
                <a:latin typeface="Arial"/>
              </a:rPr>
              <a:t> on the stack BEFORE the inner call</a:t>
            </a:r>
          </a:p>
          <a:p>
            <a:pPr algn="l">
              <a:lnSpc>
                <a:spcPct val="145000"/>
              </a:lnSpc>
            </a:pPr>
            <a:r>
              <a:rPr sz="1700" b="1" dirty="0">
                <a:solidFill>
                  <a:srgbClr val="ED7D31"/>
                </a:solidFill>
                <a:latin typeface="Arial"/>
              </a:rPr>
              <a:t>▸ </a:t>
            </a:r>
            <a:r>
              <a:rPr sz="1700" b="1" dirty="0">
                <a:solidFill>
                  <a:srgbClr val="1E3A5F"/>
                </a:solidFill>
                <a:latin typeface="Arial"/>
              </a:rPr>
              <a:t>Same for $a0</a:t>
            </a:r>
            <a:r>
              <a:rPr sz="1700" dirty="0">
                <a:solidFill>
                  <a:srgbClr val="212121"/>
                </a:solidFill>
                <a:latin typeface="Arial"/>
              </a:rPr>
              <a:t>  -  if you'll need the argument again after the call, save it too</a:t>
            </a:r>
          </a:p>
          <a:p>
            <a:pPr algn="l">
              <a:lnSpc>
                <a:spcPct val="145000"/>
              </a:lnSpc>
            </a:pPr>
            <a:r>
              <a:rPr sz="1700" b="1" dirty="0">
                <a:solidFill>
                  <a:srgbClr val="ED7D31"/>
                </a:solidFill>
                <a:latin typeface="Arial"/>
              </a:rPr>
              <a:t>▸ </a:t>
            </a:r>
            <a:r>
              <a:rPr sz="1700" b="1" dirty="0">
                <a:solidFill>
                  <a:srgbClr val="1E3A5F"/>
                </a:solidFill>
                <a:latin typeface="Arial"/>
              </a:rPr>
              <a:t>Recursion</a:t>
            </a:r>
            <a:r>
              <a:rPr sz="1700" dirty="0">
                <a:solidFill>
                  <a:srgbClr val="212121"/>
                </a:solidFill>
                <a:latin typeface="Arial"/>
              </a:rPr>
              <a:t>  -  is just a function calling itself - same rule applies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852160"/>
            <a:ext cx="11247120" cy="54864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Allocate ONE stack frame at the top of the function, free it before EVERY return path</a:t>
            </a:r>
          </a:p>
        </p:txBody>
      </p:sp>
      <p:sp>
        <p:nvSpPr>
          <p:cNvPr id="7" name="topic_label"/>
          <p:cNvSpPr txBox="1"/>
          <p:nvPr/>
        </p:nvSpPr>
        <p:spPr>
          <a:xfrm>
            <a:off x="274320" y="292608"/>
            <a:ext cx="64008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Lesson 18 (Part 1)  -  Why Nested Calls Need the Stack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ctr"/>
          <a:lstStyle/>
          <a:p>
            <a:pPr algn="l"/>
            <a:r>
              <a:rPr sz="3200" b="1">
                <a:solidFill>
                  <a:srgbClr val="1E3A5F"/>
                </a:solidFill>
                <a:latin typeface="Arial"/>
              </a:rPr>
              <a:t>factorial(3) - Stack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/>
            <a:r>
              <a:rPr sz="1400" i="1">
                <a:solidFill>
                  <a:srgbClr val="6B7280"/>
                </a:solidFill>
                <a:latin typeface="Arial"/>
              </a:rPr>
              <a:t>Each call gets its own slot for $ra and 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5F"/>
                </a:solidFill>
                <a:latin typeface="Arial"/>
              </a:rPr>
              <a:t>Call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6858000" cy="411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121"/>
                </a:solidFill>
                <a:latin typeface="Arial"/>
              </a:rPr>
              <a:t>main calls factorial(3)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121"/>
                </a:solidFill>
                <a:latin typeface="Arial"/>
              </a:rPr>
              <a:t>  factorial(3) pushes $ra,3   then calls factorial(2)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121"/>
                </a:solidFill>
                <a:latin typeface="Arial"/>
              </a:rPr>
              <a:t>    factorial(2) pushes $ra,2   then calls factorial(1)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121"/>
                </a:solidFill>
                <a:latin typeface="Arial"/>
              </a:rPr>
              <a:t>      factorial(1) returns 1   (base case)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121"/>
                </a:solidFill>
                <a:latin typeface="Arial"/>
              </a:rPr>
              <a:t>    factorial(2) pops $ra,2   returns 1 * 2 = 2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121"/>
                </a:solidFill>
                <a:latin typeface="Arial"/>
              </a:rPr>
              <a:t>  factorial(3) pops $ra,3   returns 2 * 3 = 6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121"/>
                </a:solidFill>
                <a:latin typeface="Arial"/>
              </a:rPr>
              <a:t>main receives 6 in $v0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417320"/>
            <a:ext cx="3200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3A5F"/>
                </a:solidFill>
                <a:latin typeface="Arial"/>
              </a:rPr>
              <a:t>Stack at deepest call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1828800"/>
            <a:ext cx="3200400" cy="457200"/>
          </a:xfrm>
          <a:prstGeom prst="rect">
            <a:avLst/>
          </a:prstGeom>
          <a:solidFill>
            <a:srgbClr val="5C7A95"/>
          </a:solidFill>
          <a:ln w="6350">
            <a:solidFill>
              <a:srgbClr val="5C7A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n = 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2286000"/>
            <a:ext cx="3200400" cy="457200"/>
          </a:xfrm>
          <a:prstGeom prst="rect">
            <a:avLst/>
          </a:prstGeom>
          <a:solidFill>
            <a:srgbClr val="1E3A5F"/>
          </a:solidFill>
          <a:ln w="6350">
            <a:solidFill>
              <a:srgbClr val="5C7A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$ra (main)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2743200"/>
            <a:ext cx="3200400" cy="457200"/>
          </a:xfrm>
          <a:prstGeom prst="rect">
            <a:avLst/>
          </a:prstGeom>
          <a:solidFill>
            <a:srgbClr val="5C7A95"/>
          </a:solidFill>
          <a:ln w="6350">
            <a:solidFill>
              <a:srgbClr val="5C7A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n =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3200400"/>
            <a:ext cx="3200400" cy="457200"/>
          </a:xfrm>
          <a:prstGeom prst="rect">
            <a:avLst/>
          </a:prstGeom>
          <a:solidFill>
            <a:srgbClr val="1E3A5F"/>
          </a:solidFill>
          <a:ln w="6350">
            <a:solidFill>
              <a:srgbClr val="5C7A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$ra (fact 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3657600"/>
            <a:ext cx="3200400" cy="457200"/>
          </a:xfrm>
          <a:prstGeom prst="rect">
            <a:avLst/>
          </a:prstGeom>
          <a:solidFill>
            <a:srgbClr val="ED7D31"/>
          </a:solidFill>
          <a:ln w="6350">
            <a:solidFill>
              <a:srgbClr val="5C7A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n = 1 (base)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4114800"/>
            <a:ext cx="3200400" cy="457200"/>
          </a:xfrm>
          <a:prstGeom prst="rect">
            <a:avLst/>
          </a:prstGeom>
          <a:solidFill>
            <a:srgbClr val="E8EEF4"/>
          </a:solidFill>
          <a:ln w="6350">
            <a:solidFill>
              <a:srgbClr val="5C7A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3A5F"/>
                </a:solidFill>
                <a:latin typeface="Consolas"/>
              </a:rPr>
              <a:t>&lt;-  $sp</a:t>
            </a:r>
          </a:p>
        </p:txBody>
      </p:sp>
      <p:sp>
        <p:nvSpPr>
          <p:cNvPr id="14" name="topic_label"/>
          <p:cNvSpPr txBox="1"/>
          <p:nvPr/>
        </p:nvSpPr>
        <p:spPr>
          <a:xfrm>
            <a:off x="274320" y="292608"/>
            <a:ext cx="64008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factorial(3)  -  Stack Walkthrough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ctr"/>
          <a:lstStyle/>
          <a:p>
            <a:pPr algn="l"/>
            <a:r>
              <a:rPr sz="3200" b="1">
                <a:solidFill>
                  <a:srgbClr val="1E3A5F"/>
                </a:solidFill>
                <a:latin typeface="Arial"/>
              </a:rPr>
              <a:t>Lesson 18 (Part 2) - Recursive Factorial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11277295" cy="475488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6350">
            <a:solidFill>
              <a:srgbClr val="5C7A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09728" bIns="109728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E3A5F"/>
                </a:solidFill>
                <a:latin typeface="Consolas"/>
              </a:rPr>
              <a:t>factorial: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141B29"/>
                </a:solidFill>
                <a:latin typeface="Consolas"/>
              </a:rPr>
              <a:t>    addi $sp, $sp, -8        </a:t>
            </a:r>
            <a:r>
              <a:rPr sz="1300" i="1">
                <a:solidFill>
                  <a:srgbClr val="6A737D"/>
                </a:solidFill>
                <a:latin typeface="Consolas"/>
              </a:rPr>
              <a:t># reserve two slots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141B29"/>
                </a:solidFill>
                <a:latin typeface="Consolas"/>
              </a:rPr>
              <a:t>    sw   $ra, 0($sp)         </a:t>
            </a:r>
            <a:r>
              <a:rPr sz="1300" i="1">
                <a:solidFill>
                  <a:srgbClr val="6A737D"/>
                </a:solidFill>
                <a:latin typeface="Consolas"/>
              </a:rPr>
              <a:t># save return address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141B29"/>
                </a:solidFill>
                <a:latin typeface="Consolas"/>
              </a:rPr>
              <a:t>    sw   $a0, 4($sp)         </a:t>
            </a:r>
            <a:r>
              <a:rPr sz="1300" i="1">
                <a:solidFill>
                  <a:srgbClr val="6A737D"/>
                </a:solidFill>
                <a:latin typeface="Consolas"/>
              </a:rPr>
              <a:t># save n</a:t>
            </a:r>
          </a:p>
          <a:p>
            <a:pPr algn="l">
              <a:lnSpc>
                <a:spcPct val="105000"/>
              </a:lnSpc>
            </a:pPr>
            <a:endParaRPr sz="1300" i="1">
              <a:solidFill>
                <a:srgbClr val="6A737D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141B29"/>
                </a:solidFill>
                <a:latin typeface="Consolas"/>
              </a:rPr>
              <a:t>    slti $t0, $a0, 2         </a:t>
            </a:r>
            <a:r>
              <a:rPr sz="1300" i="1">
                <a:solidFill>
                  <a:srgbClr val="6A737D"/>
                </a:solidFill>
                <a:latin typeface="Consolas"/>
              </a:rPr>
              <a:t># n &lt; 2 ?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141B29"/>
                </a:solidFill>
                <a:latin typeface="Consolas"/>
              </a:rPr>
              <a:t>    beq  $t0, $zero, recurse</a:t>
            </a:r>
          </a:p>
          <a:p>
            <a:pPr algn="l">
              <a:lnSpc>
                <a:spcPct val="105000"/>
              </a:lnSpc>
            </a:pPr>
            <a:endParaRPr sz="1300">
              <a:solidFill>
                <a:srgbClr val="141B2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141B29"/>
                </a:solidFill>
                <a:latin typeface="Consolas"/>
              </a:rPr>
              <a:t>    li   $v0, 1              </a:t>
            </a:r>
            <a:r>
              <a:rPr sz="1300" i="1">
                <a:solidFill>
                  <a:srgbClr val="6A737D"/>
                </a:solidFill>
                <a:latin typeface="Consolas"/>
              </a:rPr>
              <a:t># base: factorial(0)=factorial(1)=1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141B29"/>
                </a:solidFill>
                <a:latin typeface="Consolas"/>
              </a:rPr>
              <a:t>    addi $sp, $sp, 8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141B29"/>
                </a:solidFill>
                <a:latin typeface="Consolas"/>
              </a:rPr>
              <a:t>    jr   $ra</a:t>
            </a:r>
          </a:p>
          <a:p>
            <a:pPr algn="l">
              <a:lnSpc>
                <a:spcPct val="105000"/>
              </a:lnSpc>
            </a:pPr>
            <a:endParaRPr sz="1300">
              <a:solidFill>
                <a:srgbClr val="141B2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300" b="1">
                <a:solidFill>
                  <a:srgbClr val="1E3A5F"/>
                </a:solidFill>
                <a:latin typeface="Consolas"/>
              </a:rPr>
              <a:t>recurse: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141B29"/>
                </a:solidFill>
                <a:latin typeface="Consolas"/>
              </a:rPr>
              <a:t>    addi $a0, $a0, -1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141B29"/>
                </a:solidFill>
                <a:latin typeface="Consolas"/>
              </a:rPr>
              <a:t>    jal  factorial           </a:t>
            </a:r>
            <a:r>
              <a:rPr sz="1300" i="1">
                <a:solidFill>
                  <a:srgbClr val="6A737D"/>
                </a:solidFill>
                <a:latin typeface="Consolas"/>
              </a:rPr>
              <a:t># $v0 = factorial(n - 1)</a:t>
            </a:r>
          </a:p>
          <a:p>
            <a:pPr algn="l">
              <a:lnSpc>
                <a:spcPct val="105000"/>
              </a:lnSpc>
            </a:pPr>
            <a:endParaRPr sz="1300" i="1">
              <a:solidFill>
                <a:srgbClr val="6A737D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141B29"/>
                </a:solidFill>
                <a:latin typeface="Consolas"/>
              </a:rPr>
              <a:t>    lw   $a0, 4($sp)         </a:t>
            </a:r>
            <a:r>
              <a:rPr sz="1300" i="1">
                <a:solidFill>
                  <a:srgbClr val="6A737D"/>
                </a:solidFill>
                <a:latin typeface="Consolas"/>
              </a:rPr>
              <a:t># restore n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141B29"/>
                </a:solidFill>
                <a:latin typeface="Consolas"/>
              </a:rPr>
              <a:t>    lw   $ra, 0($sp)         </a:t>
            </a:r>
            <a:r>
              <a:rPr sz="1300" i="1">
                <a:solidFill>
                  <a:srgbClr val="6A737D"/>
                </a:solidFill>
                <a:latin typeface="Consolas"/>
              </a:rPr>
              <a:t># restore $ra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141B29"/>
                </a:solidFill>
                <a:latin typeface="Consolas"/>
              </a:rPr>
              <a:t>    addi $sp, $sp, 8</a:t>
            </a:r>
          </a:p>
          <a:p>
            <a:pPr algn="l">
              <a:lnSpc>
                <a:spcPct val="105000"/>
              </a:lnSpc>
            </a:pPr>
            <a:endParaRPr sz="1300">
              <a:solidFill>
                <a:srgbClr val="141B2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141B29"/>
                </a:solidFill>
                <a:latin typeface="Consolas"/>
              </a:rPr>
              <a:t>    mul  $v0, $v0, $a0       </a:t>
            </a:r>
            <a:r>
              <a:rPr sz="1300" i="1">
                <a:solidFill>
                  <a:srgbClr val="6A737D"/>
                </a:solidFill>
                <a:latin typeface="Consolas"/>
              </a:rPr>
              <a:t># $v0 = factorial(n-1) * n</a:t>
            </a:r>
          </a:p>
          <a:p>
            <a:pPr algn="l">
              <a:lnSpc>
                <a:spcPct val="105000"/>
              </a:lnSpc>
            </a:pPr>
            <a:r>
              <a:rPr sz="1300">
                <a:solidFill>
                  <a:srgbClr val="141B29"/>
                </a:solidFill>
                <a:latin typeface="Consolas"/>
              </a:rPr>
              <a:t>    jr   $ra</a:t>
            </a:r>
          </a:p>
        </p:txBody>
      </p:sp>
      <p:sp>
        <p:nvSpPr>
          <p:cNvPr id="5" name="topic_label"/>
          <p:cNvSpPr txBox="1"/>
          <p:nvPr/>
        </p:nvSpPr>
        <p:spPr>
          <a:xfrm>
            <a:off x="274320" y="292608"/>
            <a:ext cx="64008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Lesson 18 (Part 2)  -  Recursive Factorial Code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ctr"/>
          <a:lstStyle/>
          <a:p>
            <a:pPr algn="l"/>
            <a:r>
              <a:rPr sz="3200" b="1">
                <a:solidFill>
                  <a:srgbClr val="1E3A5F"/>
                </a:solidFill>
                <a:latin typeface="Arial"/>
              </a:rPr>
              <a:t>Lessons 19 - 21 - Reading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/>
            <a:r>
              <a:rPr sz="1400" i="1">
                <a:solidFill>
                  <a:srgbClr val="6B7280"/>
                </a:solidFill>
                <a:latin typeface="Arial"/>
              </a:rPr>
              <a:t>syscall 5 / 6 / 7  =  read int / float / double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828800"/>
            <a:ext cx="2377440" cy="50292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Reads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828800"/>
            <a:ext cx="3200400" cy="50292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Result lands 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5592" y="1828800"/>
            <a:ext cx="3566160" cy="50292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Save it!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77440"/>
            <a:ext cx="1828800" cy="640080"/>
          </a:xfrm>
          <a:prstGeom prst="roundRect">
            <a:avLst>
              <a:gd name="adj" fmla="val 8000"/>
            </a:avLst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E3A5F"/>
                </a:solidFill>
                <a:latin typeface="Arial"/>
              </a:rPr>
              <a:t>syscall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2542032"/>
            <a:ext cx="23774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12121"/>
                </a:solidFill>
                <a:latin typeface="Arial"/>
              </a:rPr>
              <a:t>read integer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2542032"/>
            <a:ext cx="3200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12121"/>
                </a:solidFill>
                <a:latin typeface="Arial"/>
              </a:rPr>
              <a:t>result in $v0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542032"/>
            <a:ext cx="35661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5F"/>
                </a:solidFill>
                <a:latin typeface="Arial"/>
              </a:rPr>
              <a:t>move $t0, $v0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54680"/>
            <a:ext cx="1828800" cy="640080"/>
          </a:xfrm>
          <a:prstGeom prst="roundRect">
            <a:avLst>
              <a:gd name="adj" fmla="val 8000"/>
            </a:avLst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E3A5F"/>
                </a:solidFill>
                <a:latin typeface="Arial"/>
              </a:rPr>
              <a:t>syscall 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3319272"/>
            <a:ext cx="23774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12121"/>
                </a:solidFill>
                <a:latin typeface="Arial"/>
              </a:rPr>
              <a:t>read float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3319272"/>
            <a:ext cx="3200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12121"/>
                </a:solidFill>
                <a:latin typeface="Arial"/>
              </a:rPr>
              <a:t>result in $f0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319272"/>
            <a:ext cx="35661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5F"/>
                </a:solidFill>
                <a:latin typeface="Arial"/>
              </a:rPr>
              <a:t>mov.s $f20, $f0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31920"/>
            <a:ext cx="1828800" cy="640080"/>
          </a:xfrm>
          <a:prstGeom prst="roundRect">
            <a:avLst>
              <a:gd name="adj" fmla="val 8000"/>
            </a:avLst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E3A5F"/>
                </a:solidFill>
                <a:latin typeface="Arial"/>
              </a:rPr>
              <a:t>syscall 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4096512"/>
            <a:ext cx="23774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12121"/>
                </a:solidFill>
                <a:latin typeface="Arial"/>
              </a:rPr>
              <a:t>read double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4096512"/>
            <a:ext cx="3200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12121"/>
                </a:solidFill>
                <a:latin typeface="Arial"/>
              </a:rPr>
              <a:t>result in $f0/$f1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4096512"/>
            <a:ext cx="35661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5F"/>
                </a:solidFill>
                <a:latin typeface="Arial"/>
              </a:rPr>
              <a:t>mov.d $f20, $f0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57784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Always SAVE the result before the next syscall - any syscall may reuse $v0 / $f0</a:t>
            </a:r>
          </a:p>
        </p:txBody>
      </p:sp>
      <p:sp>
        <p:nvSpPr>
          <p:cNvPr id="22" name="topic_label"/>
          <p:cNvSpPr txBox="1"/>
          <p:nvPr/>
        </p:nvSpPr>
        <p:spPr>
          <a:xfrm>
            <a:off x="274320" y="292608"/>
            <a:ext cx="64008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Lessons 19-21  -  Reading Numbers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ctr"/>
          <a:lstStyle/>
          <a:p>
            <a:pPr algn="l"/>
            <a:r>
              <a:rPr sz="3200" b="1">
                <a:solidFill>
                  <a:srgbClr val="1E3A5F"/>
                </a:solidFill>
                <a:latin typeface="Arial"/>
              </a:rPr>
              <a:t>Lesson 22 - Reading a String  (syscall 8)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/>
            <a:r>
              <a:rPr sz="1400" i="1">
                <a:solidFill>
                  <a:srgbClr val="6B7280"/>
                </a:solidFill>
                <a:latin typeface="Arial"/>
              </a:rPr>
              <a:t>Reserve space yourself - the OS won't allocate for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11277295" cy="45720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6350">
            <a:solidFill>
              <a:srgbClr val="5C7A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09728" bIns="109728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9C27B0"/>
                </a:solidFill>
                <a:latin typeface="Consolas"/>
              </a:rPr>
              <a:t>.data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141B29"/>
                </a:solidFill>
                <a:latin typeface="Consolas"/>
              </a:rPr>
              <a:t>    prompt:   .asciiz "Enter your name: "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141B29"/>
                </a:solidFill>
                <a:latin typeface="Consolas"/>
              </a:rPr>
              <a:t>    greeting: .asciiz "Hello, "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141B29"/>
                </a:solidFill>
                <a:latin typeface="Consolas"/>
              </a:rPr>
              <a:t>    buffer:   .space 64           </a:t>
            </a:r>
            <a:r>
              <a:rPr sz="1200" i="1">
                <a:solidFill>
                  <a:srgbClr val="6A737D"/>
                </a:solidFill>
                <a:latin typeface="Consolas"/>
              </a:rPr>
              <a:t># 64 bytes of zero memory</a:t>
            </a:r>
          </a:p>
          <a:p>
            <a:pPr algn="l">
              <a:lnSpc>
                <a:spcPct val="105000"/>
              </a:lnSpc>
            </a:pPr>
            <a:endParaRPr sz="1200" i="1">
              <a:solidFill>
                <a:srgbClr val="6A737D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200" b="1">
                <a:solidFill>
                  <a:srgbClr val="9C27B0"/>
                </a:solidFill>
                <a:latin typeface="Consolas"/>
              </a:rPr>
              <a:t>.text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141B29"/>
                </a:solidFill>
                <a:latin typeface="Consolas"/>
              </a:rPr>
              <a:t>    li   $v0, 4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141B29"/>
                </a:solidFill>
                <a:latin typeface="Consolas"/>
              </a:rPr>
              <a:t>    la   $a0, prompt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141B29"/>
                </a:solidFill>
                <a:latin typeface="Consolas"/>
              </a:rPr>
              <a:t>    syscall</a:t>
            </a:r>
          </a:p>
          <a:p>
            <a:pPr algn="l">
              <a:lnSpc>
                <a:spcPct val="105000"/>
              </a:lnSpc>
            </a:pPr>
            <a:endParaRPr sz="1200">
              <a:solidFill>
                <a:srgbClr val="141B2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141B29"/>
                </a:solidFill>
                <a:latin typeface="Consolas"/>
              </a:rPr>
              <a:t>    li   $v0, 8                   </a:t>
            </a:r>
            <a:r>
              <a:rPr sz="1200" i="1">
                <a:solidFill>
                  <a:srgbClr val="6A737D"/>
                </a:solidFill>
                <a:latin typeface="Consolas"/>
              </a:rPr>
              <a:t># read string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141B29"/>
                </a:solidFill>
                <a:latin typeface="Consolas"/>
              </a:rPr>
              <a:t>    la   $a0, buffer              </a:t>
            </a:r>
            <a:r>
              <a:rPr sz="1200" i="1">
                <a:solidFill>
                  <a:srgbClr val="6A737D"/>
                </a:solidFill>
                <a:latin typeface="Consolas"/>
              </a:rPr>
              <a:t># where to put it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141B29"/>
                </a:solidFill>
                <a:latin typeface="Consolas"/>
              </a:rPr>
              <a:t>    li   $a1, 64                  </a:t>
            </a:r>
            <a:r>
              <a:rPr sz="1200" i="1">
                <a:solidFill>
                  <a:srgbClr val="6A737D"/>
                </a:solidFill>
                <a:latin typeface="Consolas"/>
              </a:rPr>
              <a:t># max bytes (incl trailing 0)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141B29"/>
                </a:solidFill>
                <a:latin typeface="Consolas"/>
              </a:rPr>
              <a:t>    syscall</a:t>
            </a:r>
          </a:p>
          <a:p>
            <a:pPr algn="l">
              <a:lnSpc>
                <a:spcPct val="105000"/>
              </a:lnSpc>
            </a:pPr>
            <a:endParaRPr sz="1200">
              <a:solidFill>
                <a:srgbClr val="141B2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141B29"/>
                </a:solidFill>
                <a:latin typeface="Consolas"/>
              </a:rPr>
              <a:t>    li   $v0, 4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141B29"/>
                </a:solidFill>
                <a:latin typeface="Consolas"/>
              </a:rPr>
              <a:t>    la   $a0, greeting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141B29"/>
                </a:solidFill>
                <a:latin typeface="Consolas"/>
              </a:rPr>
              <a:t>    syscall</a:t>
            </a:r>
          </a:p>
          <a:p>
            <a:pPr algn="l">
              <a:lnSpc>
                <a:spcPct val="105000"/>
              </a:lnSpc>
            </a:pPr>
            <a:endParaRPr sz="1200">
              <a:solidFill>
                <a:srgbClr val="141B2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141B29"/>
                </a:solidFill>
                <a:latin typeface="Consolas"/>
              </a:rPr>
              <a:t>    li   $v0, 4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141B29"/>
                </a:solidFill>
                <a:latin typeface="Consolas"/>
              </a:rPr>
              <a:t>    la   $a0, buffer              </a:t>
            </a:r>
            <a:r>
              <a:rPr sz="1200" i="1">
                <a:solidFill>
                  <a:srgbClr val="6A737D"/>
                </a:solidFill>
                <a:latin typeface="Consolas"/>
              </a:rPr>
              <a:t># buffer is null-terminated -&gt; printable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141B29"/>
                </a:solidFill>
                <a:latin typeface="Consolas"/>
              </a:rPr>
              <a:t>    syscall</a:t>
            </a:r>
          </a:p>
        </p:txBody>
      </p:sp>
      <p:sp>
        <p:nvSpPr>
          <p:cNvPr id="6" name="topic_label"/>
          <p:cNvSpPr txBox="1"/>
          <p:nvPr/>
        </p:nvSpPr>
        <p:spPr>
          <a:xfrm>
            <a:off x="274320" y="292608"/>
            <a:ext cx="64008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Lesson 22  -  Reading a String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ctr"/>
          <a:lstStyle/>
          <a:p>
            <a:pPr algn="l"/>
            <a:r>
              <a:rPr sz="3200" b="1">
                <a:solidFill>
                  <a:srgbClr val="1E3A5F"/>
                </a:solidFill>
                <a:latin typeface="Arial"/>
              </a:rPr>
              <a:t>Resources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/>
            <a:r>
              <a:rPr sz="1400" i="1">
                <a:solidFill>
                  <a:srgbClr val="6B7280"/>
                </a:solidFill>
                <a:latin typeface="Arial"/>
              </a:rPr>
              <a:t>Everything is open-source and on GitHub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3749039" cy="6400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Tutorial videos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3749039" cy="2651760"/>
          </a:xfrm>
          <a:prstGeom prst="roundRect">
            <a:avLst>
              <a:gd name="adj" fmla="val 3000"/>
            </a:avLst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3383279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121"/>
                </a:solidFill>
                <a:latin typeface="Arial"/>
              </a:rPr>
              <a:t>Amell Peralta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121"/>
                </a:solidFill>
                <a:latin typeface="Arial"/>
              </a:rPr>
              <a:t>MIPS Assembly Programming Simplified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121"/>
                </a:solidFill>
                <a:latin typeface="Arial"/>
              </a:rPr>
              <a:t>(YouTube playlist)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1" y="1920240"/>
            <a:ext cx="3749039" cy="640080"/>
          </a:xfrm>
          <a:prstGeom prst="roundRect">
            <a:avLst>
              <a:gd name="adj" fmla="val 8000"/>
            </a:avLst>
          </a:prstGeom>
          <a:solidFill>
            <a:srgbClr val="5C7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Simulator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1" y="2560320"/>
            <a:ext cx="3749039" cy="2651760"/>
          </a:xfrm>
          <a:prstGeom prst="roundRect">
            <a:avLst>
              <a:gd name="adj" fmla="val 3000"/>
            </a:avLst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07991" y="2788920"/>
            <a:ext cx="3383279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121"/>
                </a:solidFill>
                <a:latin typeface="Arial"/>
              </a:rPr>
              <a:t>MARS - MIPS Assembler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121"/>
                </a:solidFill>
                <a:latin typeface="Arial"/>
              </a:rPr>
              <a:t>and Runtime Simulator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121"/>
                </a:solidFill>
                <a:latin typeface="Arial"/>
              </a:rPr>
              <a:t>https://dpetersanderson.github.io/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93022" y="1920240"/>
            <a:ext cx="3749039" cy="64008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Source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3022" y="2560320"/>
            <a:ext cx="3749039" cy="2651760"/>
          </a:xfrm>
          <a:prstGeom prst="roundRect">
            <a:avLst>
              <a:gd name="adj" fmla="val 3000"/>
            </a:avLst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75902" y="2788920"/>
            <a:ext cx="3383279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121"/>
                </a:solidFill>
                <a:latin typeface="Arial"/>
              </a:rPr>
              <a:t>github.com/lizhuoh9/MIPS-Assembly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121"/>
                </a:solidFill>
                <a:latin typeface="Arial"/>
              </a:rPr>
              <a:t>20 worked examples,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121"/>
                </a:solidFill>
                <a:latin typeface="Arial"/>
              </a:rPr>
              <a:t>lessons 3 - 22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8640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Recommended: clone the repo, open MARS, run each lesson while you watch the video.</a:t>
            </a:r>
          </a:p>
        </p:txBody>
      </p:sp>
      <p:sp>
        <p:nvSpPr>
          <p:cNvPr id="15" name="topic_label"/>
          <p:cNvSpPr txBox="1"/>
          <p:nvPr/>
        </p:nvSpPr>
        <p:spPr>
          <a:xfrm>
            <a:off x="274320" y="292608"/>
            <a:ext cx="64008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Resources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57200" y="2011680"/>
            <a:ext cx="11277295" cy="3291840"/>
          </a:xfrm>
          <a:prstGeom prst="roundRect">
            <a:avLst>
              <a:gd name="adj" fmla="val 3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2468880"/>
            <a:ext cx="10332720" cy="1371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ctr">
              <a:lnSpc>
                <a:spcPct val="120000"/>
              </a:lnSpc>
            </a:pPr>
            <a:r>
              <a:rPr sz="7200" b="1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49039"/>
            <a:ext cx="1033272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ctr">
              <a:lnSpc>
                <a:spcPct val="120000"/>
              </a:lnSpc>
            </a:pPr>
            <a:r>
              <a:rPr sz="2800" b="0" i="1">
                <a:solidFill>
                  <a:srgbClr val="E8EEF4"/>
                </a:solidFill>
                <a:latin typeface="Arial"/>
              </a:rPr>
              <a:t>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B7280"/>
                </a:solidFill>
                <a:latin typeface="Arial"/>
              </a:rPr>
              <a:t>github.com/lizhuoh9/MIPS-Assembly</a:t>
            </a:r>
          </a:p>
        </p:txBody>
      </p:sp>
      <p:sp>
        <p:nvSpPr>
          <p:cNvPr id="7" name="topic_label"/>
          <p:cNvSpPr txBox="1"/>
          <p:nvPr/>
        </p:nvSpPr>
        <p:spPr>
          <a:xfrm>
            <a:off x="274320" y="292608"/>
            <a:ext cx="64008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th_praesentation_16zu9_ETH1">
  <a:themeElements>
    <a:clrScheme name="한양대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286F2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15256</TotalTime>
  <Words>3063</Words>
  <Application>Microsoft Office PowerPoint</Application>
  <PresentationFormat>自定义</PresentationFormat>
  <Paragraphs>432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9" baseType="lpstr">
      <vt:lpstr>Noto Sans Symbols</vt:lpstr>
      <vt:lpstr>Arial</vt:lpstr>
      <vt:lpstr>Consolas</vt:lpstr>
      <vt:lpstr>eth_praesentation_16zu9_ETH1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Bumjin Jang</dc:creator>
  <cp:lastModifiedBy>리주오헝</cp:lastModifiedBy>
  <cp:revision>111</cp:revision>
  <dcterms:created xsi:type="dcterms:W3CDTF">2017-11-09T13:20:00Z</dcterms:created>
  <dcterms:modified xsi:type="dcterms:W3CDTF">2026-05-10T06:31:37Z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69AF6779C94843B2B3E577E5E6FFB172_12</vt:lpwstr>
  </property>
  <property fmtid="{D5CDD505-2E9C-101B-9397-08002B2CF9AE}" pid="3" name="KSOProductBuildVer">
    <vt:lpwstr>2052-12.1.0.20784</vt:lpwstr>
  </property>
</Properties>
</file>